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61" r:id="rId2"/>
    <p:sldId id="271" r:id="rId3"/>
    <p:sldId id="272" r:id="rId4"/>
    <p:sldId id="257" r:id="rId5"/>
    <p:sldId id="273" r:id="rId6"/>
    <p:sldId id="265" r:id="rId7"/>
    <p:sldId id="274" r:id="rId8"/>
    <p:sldId id="275" r:id="rId9"/>
    <p:sldId id="276" r:id="rId10"/>
    <p:sldId id="269" r:id="rId11"/>
    <p:sldId id="277" r:id="rId12"/>
    <p:sldId id="278" r:id="rId13"/>
    <p:sldId id="284" r:id="rId14"/>
    <p:sldId id="279" r:id="rId15"/>
    <p:sldId id="281" r:id="rId16"/>
    <p:sldId id="282" r:id="rId17"/>
    <p:sldId id="280" r:id="rId18"/>
    <p:sldId id="283" r:id="rId19"/>
    <p:sldId id="293" r:id="rId20"/>
    <p:sldId id="294" r:id="rId21"/>
    <p:sldId id="296" r:id="rId22"/>
    <p:sldId id="297" r:id="rId23"/>
    <p:sldId id="298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9" r:id="rId32"/>
    <p:sldId id="300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09" r:id="rId42"/>
    <p:sldId id="310" r:id="rId43"/>
    <p:sldId id="311" r:id="rId44"/>
    <p:sldId id="292" r:id="rId4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706" autoAdjust="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EB88B9B7-6BD6-4242-A4F6-224583E9BB18}" type="datetime1">
              <a:rPr lang="pt-BR" smtClean="0"/>
              <a:t>07/12/2024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604A0D4-B89B-4ADD-AF9E-38636B40EE4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473891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D84F729-B429-487C-A996-6CE0DFB53855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4" name="Espaço reservado para 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2869989-EB00-4EE7-BCB5-25BDC5BB29F8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936361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61978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80303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92071-EB57-9B3E-56F9-FD772D9BD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46FB3446-326D-4536-A536-7B5FDAE8D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7647E3A-6C4E-8637-1F49-2CED3F8F7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6F7CB86-0DDC-B346-C2C6-E9CF97680A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8092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58081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8A038-AFD0-0A54-E9BC-98A3B95EC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67735C8F-2B9E-3A05-5079-BDD60B1F45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1503FB6-C3CB-4174-FB34-D9DF13B931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95FEEA1-445C-5ADD-9B2F-75D4C867AC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23361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610DE-FE1B-2BCB-FFBA-BE1DC9F57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BB371856-5832-7786-D1AE-1EE71FFFF4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8A31C5-9BB1-BC41-A947-651D25F24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DCF5AF4C-ECA0-7738-C8C0-977FB970C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121629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D607D-5E89-19F6-48C5-5E2125A84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03C5998F-3D6D-E067-00E1-85D2B2343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3A45EFC-6112-E6D6-EB7A-32887F209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C7F5B483-4F7A-E2E6-96B2-7B0AE522C7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925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523732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1605D-5783-D056-2440-D0402576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1C031B94-5575-B8CB-CA14-610F38C9EC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00464A1-A5DA-284D-5F5D-64085B2D3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C9B3B85-BA1F-7909-811E-5B82BF0D28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779984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90A15-D27A-A95A-D4B9-1226FADBA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BCEF9A4F-D21A-59B0-A1E1-C0DD471DFE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2CE5EA5-9D13-4DC0-3A44-FBEED38E45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A3767B7-B53F-F2BB-D7CD-E859BF635E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33752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E632-5156-4D65-EC46-82127A203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A08F1153-042F-1A89-58D9-EC1B08B74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D558B3A-1FB4-6C9C-F0A2-9E3F8BDAB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7F508CEE-9D07-5983-BBD5-E8B832419A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17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94720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34BB-3AF0-CAAB-F58A-A5647CD8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9CF8D2A9-1411-FC61-D57C-D5E3E6F4F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5C6EDD-70AB-3AA8-CBA9-3458FF382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4E967CE4-FB6A-F8DF-0BC1-D309E64941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19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290651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1C68D-635E-B0F9-D8E5-4A2FA4A09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CBA4D731-F1E2-05A0-978A-240C33D31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87ADCBF-F172-F777-0BD3-A65189FF0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A1D0AAA1-0288-D9E5-DDAE-623DB3F5029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22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126283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D8BD7-B4DD-855E-EF3E-1230298A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1A499944-505C-FD70-3441-4FAAEB031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07FD442-6214-FF81-BEC3-2EC4319932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32847734-7816-45F7-08A0-7AEAF3048E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25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3490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32CC6-62DB-3322-A94F-E7806659A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345AF90A-DBDB-3E82-6513-050952D007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84B1A21-59AF-2950-A668-68E3FC357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0F4C971D-929E-7B97-12BD-2C65C2B4D2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26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27652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131EB-DD0C-2890-D586-50F4609EB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0F051B0-FD84-A2D0-C2F5-B34BB6C21D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72A7349-710A-E8D6-6FD9-B2AA9690CA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170449C-7D67-3552-EFB4-C22CEC4285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82869989-EB00-4EE7-BCB5-25BDC5BB29F8}" type="slidenum">
              <a:rPr lang="pt-BR" smtClean="0"/>
              <a:t>27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626341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A694A-313F-3203-7F45-605873E0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2A45CE45-EC9C-0CDA-5869-83DBA135A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61B6636-BFC9-27B7-D3BC-AC30D2220D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FFF94D4-6763-9240-04E2-F94C14F408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32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9890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57EDB-92B8-5ED1-5C1B-6DB223D42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a imagem do slide 1">
            <a:extLst>
              <a:ext uri="{FF2B5EF4-FFF2-40B4-BE49-F238E27FC236}">
                <a16:creationId xmlns:a16="http://schemas.microsoft.com/office/drawing/2014/main" id="{D505DB11-EB29-2ECF-9F89-06B2DC67CC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9061213-7F22-902E-6300-853C38110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880931DE-76C1-A43E-4F83-272A6150F1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82869989-EB00-4EE7-BCB5-25BDC5BB29F8}" type="slidenum">
              <a:rPr lang="pt-BR" smtClean="0"/>
              <a:t>44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84976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6" name="Conector reto 5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reto 6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" name="Grupo 2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1" name="Conector reto 4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to 4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to 4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to 4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6" name="Grupo 4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2" name="Conector reto 5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ector reto 5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to 5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to 5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to 5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Conector reto 4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to 4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to 4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to 4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to 5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upo 2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5" name="Conector reto 2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Conector reto 2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to 2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to 2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to 28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0" name="Grupo 2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6" name="Conector reto 3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ector reto 3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to 3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to 3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to 3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1" name="Conector reto 3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to 3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to 3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to 3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293845" y="1909346"/>
            <a:ext cx="9604310" cy="3383280"/>
          </a:xfrm>
        </p:spPr>
        <p:txBody>
          <a:bodyPr rtlCol="0" anchor="b">
            <a:normAutofit/>
          </a:bodyPr>
          <a:lstStyle>
            <a:lvl1pPr algn="l">
              <a:lnSpc>
                <a:spcPct val="76000"/>
              </a:lnSpc>
              <a:defRPr sz="8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293845" y="5432564"/>
            <a:ext cx="9604310" cy="4572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pt-BR" noProof="0"/>
              <a:t>Clique para editar o estilo do subtítulo Mestre</a:t>
            </a:r>
            <a:endParaRPr lang="pt-BR" noProof="0" dirty="0"/>
          </a:p>
        </p:txBody>
      </p:sp>
      <p:cxnSp>
        <p:nvCxnSpPr>
          <p:cNvPr id="58" name="Conector reto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8862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D6DCBA4-C353-47EC-8241-18A0DA3A5C1B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11244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gradFill flip="none" rotWithShape="1">
          <a:gsLst>
            <a:gs pos="0">
              <a:schemeClr val="accent1"/>
            </a:gs>
            <a:gs pos="97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8" name="Conector reto 7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to 8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" name="Grupo 23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2" name="Conector reto 41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to 42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to 43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to 44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to 45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" name="Grupo 46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3" name="Conector reto 52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ector reto 53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to 54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to 55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to 56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8" name="Conector reto 47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Conector reto 48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to 49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to 50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to 51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upo 24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6" name="Conector reto 2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Conector reto 2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to 2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to 2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to 29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1" name="Grupo 3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7" name="Conector reto 3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to 3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to 3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to 3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to 4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2" name="Conector reto 3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to 3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to 3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to 3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95400" y="2541573"/>
            <a:ext cx="9601200" cy="2743200"/>
          </a:xfrm>
        </p:spPr>
        <p:txBody>
          <a:bodyPr rtlCol="0" anchor="b">
            <a:normAutofit/>
          </a:bodyPr>
          <a:lstStyle>
            <a:lvl1pPr>
              <a:lnSpc>
                <a:spcPct val="85000"/>
              </a:lnSpc>
              <a:defRPr sz="600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0" y="5431536"/>
            <a:ext cx="9601200" cy="45720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58" name="Conector reto 57"/>
          <p:cNvCxnSpPr/>
          <p:nvPr userDrawn="1"/>
        </p:nvCxnSpPr>
        <p:spPr>
          <a:xfrm>
            <a:off x="1295400" y="5294175"/>
            <a:ext cx="9601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6778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2954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324600" y="1981199"/>
            <a:ext cx="4572000" cy="3810001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051742-82EB-42D7-BB6E-B395D51B875F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40445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12954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324600" y="1818322"/>
            <a:ext cx="4572000" cy="641350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324600" y="2503713"/>
            <a:ext cx="4572000" cy="3287487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F844F69-8BBE-4C0B-965F-D17F50C8E650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39790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8B90ADF-DE55-4142-8D04-EBD4B8F74FFD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3238976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rupo 160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62" name="Conector reto 161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ector reto 162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ector reto 163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ector reto 164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Conector reto 165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Conector reto 166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Conector reto 167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Conector reto 168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Conector reto 169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Conector reto 170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Conector reto 171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Conector reto 172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ector reto 173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ector reto 174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ector reto 175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ector reto 176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3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8" name="Grupo 177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96" name="Conector reto 195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7" name="Conector reto 196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8" name="Conector reto 197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9" name="Conector reto 198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Conector reto 199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1" name="Grupo 200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207" name="Conector reto 206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Conector reto 207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Conector reto 208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Conector reto 209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Conector reto 210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02" name="Conector reto 201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3" name="Conector reto 202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4" name="Conector reto 203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Conector reto 204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Conector reto 205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9" name="Grupo 178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80" name="Conector reto 179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Conector reto 180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2" name="Conector reto 181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Conector reto 182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Conector reto 183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Grupo 184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91" name="Conector reto 190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Conector reto 191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Conector reto 192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Conector reto 193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Conector reto 194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3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86" name="Conector reto 185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ector reto 186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ector reto 187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ector reto 188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ector reto 189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3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3" name="Espaço reservado para rodapé 21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212" name="Espaço reservado para data 21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6A890C-6452-49A1-B0D9-AA8036D5237E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214" name="Espaço reservado para o número do slide 21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14681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/>
          <p:cNvGrpSpPr/>
          <p:nvPr userDrawn="1"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10" name="Conector reto 9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to 24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upo 25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4" name="Conector reto 43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to 44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to 45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to 46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Conector reto 47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9" name="Grupo 48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5" name="Conector reto 54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to 55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to 56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ector reto 57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" name="Conector reto 58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0" name="Conector reto 49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to 50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to 51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to 52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Conector reto 53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upo 26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8" name="Conector reto 27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to 28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to 29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to 30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to 31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upo 32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9" name="Conector reto 38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to 39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to 40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reto 41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ector reto 42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4" name="Conector reto 33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to 34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to 35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to 36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ector reto 37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7" name="Retângulo 6"/>
          <p:cNvSpPr/>
          <p:nvPr userDrawn="1"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13152" y="571500"/>
            <a:ext cx="3657600" cy="219710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3197" y="571500"/>
            <a:ext cx="6217920" cy="5715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913152" y="2995012"/>
            <a:ext cx="3657600" cy="2285950"/>
          </a:xfrm>
        </p:spPr>
        <p:txBody>
          <a:bodyPr rtlCol="0">
            <a:normAutofit/>
          </a:bodyPr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  <p:cxnSp>
        <p:nvCxnSpPr>
          <p:cNvPr id="60" name="Conector reto 59"/>
          <p:cNvCxnSpPr/>
          <p:nvPr userDrawn="1"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31623B0F-75CC-4C46-A6C5-4A410D901FCD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8" name="Espaço reservado para o número do slide 7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667374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Pr>
        <a:gradFill flip="none" rotWithShape="1">
          <a:gsLst>
            <a:gs pos="0">
              <a:schemeClr val="accent1"/>
            </a:gs>
            <a:gs pos="100000">
              <a:schemeClr val="accent1">
                <a:lumMod val="8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o 7"/>
          <p:cNvGrpSpPr/>
          <p:nvPr/>
        </p:nvGrpSpPr>
        <p:grpSpPr bwMode="hidden">
          <a:xfrm>
            <a:off x="-1" y="0"/>
            <a:ext cx="12192002" cy="6858000"/>
            <a:chOff x="-1" y="0"/>
            <a:chExt cx="12192002" cy="6858000"/>
          </a:xfrm>
        </p:grpSpPr>
        <p:cxnSp>
          <p:nvCxnSpPr>
            <p:cNvPr id="9" name="Conector reto 8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to 9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to 10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to 11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to 12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to 13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to 14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to 15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to 16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to 17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to 18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to 19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to 20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to 21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to 22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to 23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accent1">
                  <a:lumMod val="7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upo 24"/>
            <p:cNvGrpSpPr/>
            <p:nvPr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43" name="Conector reto 42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Conector reto 43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to 44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to 45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ector reto 46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8" name="Grupo 47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54" name="Conector reto 53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ector reto 54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ector reto 55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ector reto 56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Conector reto 57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9" name="Conector reto 48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Conector reto 49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Conector reto 50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Conector reto 51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Conector reto 52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upo 25"/>
            <p:cNvGrpSpPr/>
            <p:nvPr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27" name="Conector reto 26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to 27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to 28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to 29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to 30"/>
              <p:cNvCxnSpPr/>
              <p:nvPr/>
            </p:nvCxnSpPr>
            <p:spPr bwMode="hidden">
              <a:xfrm>
                <a:off x="5150644" y="0"/>
                <a:ext cx="6815931" cy="6858000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" name="Grupo 31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38" name="Conector reto 37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to 38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to 39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Conector reto 40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reto 41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accent1">
                      <a:lumMod val="7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33" name="Conector reto 32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to 33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to 34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to 35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to 36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accent1">
                    <a:lumMod val="7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Retângulo 59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gradFill>
            <a:gsLst>
              <a:gs pos="69000">
                <a:schemeClr val="bg1"/>
              </a:gs>
              <a:gs pos="0">
                <a:schemeClr val="bg1"/>
              </a:gs>
              <a:gs pos="100000">
                <a:schemeClr val="bg1">
                  <a:lumMod val="95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cxnSp>
        <p:nvCxnSpPr>
          <p:cNvPr id="59" name="Conector reto 58"/>
          <p:cNvCxnSpPr/>
          <p:nvPr/>
        </p:nvCxnSpPr>
        <p:spPr>
          <a:xfrm>
            <a:off x="7923089" y="2895600"/>
            <a:ext cx="3659311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09560" y="576072"/>
            <a:ext cx="3657600" cy="2194560"/>
          </a:xfrm>
        </p:spPr>
        <p:txBody>
          <a:bodyPr rtlCol="0" anchor="b">
            <a:normAutofit/>
          </a:bodyPr>
          <a:lstStyle>
            <a:lvl1pPr>
              <a:defRPr sz="26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imagem 2" descr="Um espaço reservado vazio para adicionar uma imagem. Clique no espaço reservado e selecione a imagem que você deseja adicionar."/>
          <p:cNvSpPr>
            <a:spLocks noGrp="1"/>
          </p:cNvSpPr>
          <p:nvPr>
            <p:ph type="pic" idx="1"/>
          </p:nvPr>
        </p:nvSpPr>
        <p:spPr>
          <a:xfrm>
            <a:off x="4412" y="-159"/>
            <a:ext cx="7315200" cy="6858000"/>
          </a:xfrm>
        </p:spPr>
        <p:txBody>
          <a:bodyPr tIns="457200" rtlCol="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0"/>
              <a:t>Clique no ícone para adicionar uma imagem</a:t>
            </a:r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7909560" y="2999232"/>
            <a:ext cx="3657600" cy="2286000"/>
          </a:xfrm>
        </p:spPr>
        <p:txBody>
          <a:bodyPr rtlCol="0"/>
          <a:lstStyle>
            <a:lvl1pPr marL="0" indent="0">
              <a:spcBef>
                <a:spcPts val="120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Clique para editar os estilos de texto Mestres</a:t>
            </a:r>
          </a:p>
        </p:txBody>
      </p:sp>
    </p:spTree>
    <p:extLst>
      <p:ext uri="{BB962C8B-B14F-4D97-AF65-F5344CB8AC3E}">
        <p14:creationId xmlns:p14="http://schemas.microsoft.com/office/powerpoint/2010/main" val="62031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C0FA058-471D-4FFB-8372-3559F7C86DB7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477154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9209314" y="489856"/>
            <a:ext cx="1687286" cy="5301343"/>
          </a:xfrm>
        </p:spPr>
        <p:txBody>
          <a:bodyPr vert="eaVert" rtlCol="0"/>
          <a:lstStyle/>
          <a:p>
            <a:pPr rtl="0"/>
            <a:r>
              <a:rPr lang="pt-BR" noProof="0"/>
              <a:t>Clique para editar o título Mestre</a:t>
            </a:r>
            <a:endParaRPr lang="pt-BR" noProof="0" dirty="0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295399" y="489856"/>
            <a:ext cx="7587344" cy="5301343"/>
          </a:xfrm>
        </p:spPr>
        <p:txBody>
          <a:bodyPr vert="eaVert" rtlCol="0"/>
          <a:lstStyle/>
          <a:p>
            <a:pPr lvl="0" rtl="0"/>
            <a:r>
              <a:rPr lang="pt-BR" noProof="0"/>
              <a:t>Clique para editar os estilos de texto Mestres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  <a:endParaRPr lang="pt-BR" noProof="0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D57174-64C5-4919-8608-FF00C64CBE00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E31375A4-56A4-47D6-9801-1991572033F7}" type="slidenum">
              <a:rPr lang="pt-BR" noProof="0" smtClean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2524635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chemeClr val="bg1"/>
            </a:gs>
            <a:gs pos="0">
              <a:schemeClr val="bg1">
                <a:lumMod val="100000"/>
              </a:schemeClr>
            </a:gs>
            <a:gs pos="100000">
              <a:schemeClr val="bg1">
                <a:lumMod val="95000"/>
                <a:alpha val="65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rupo 95"/>
          <p:cNvGrpSpPr/>
          <p:nvPr userDrawn="1"/>
        </p:nvGrpSpPr>
        <p:grpSpPr bwMode="hidden">
          <a:xfrm>
            <a:off x="-1" y="-195943"/>
            <a:ext cx="12192002" cy="6858000"/>
            <a:chOff x="-1" y="0"/>
            <a:chExt cx="12192002" cy="6858000"/>
          </a:xfrm>
        </p:grpSpPr>
        <p:cxnSp>
          <p:nvCxnSpPr>
            <p:cNvPr id="97" name="Conector reto 96"/>
            <p:cNvCxnSpPr/>
            <p:nvPr/>
          </p:nvCxnSpPr>
          <p:spPr bwMode="hidden">
            <a:xfrm>
              <a:off x="61019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reto 97"/>
            <p:cNvCxnSpPr/>
            <p:nvPr/>
          </p:nvCxnSpPr>
          <p:spPr bwMode="hidden">
            <a:xfrm>
              <a:off x="182933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reto 98"/>
            <p:cNvCxnSpPr/>
            <p:nvPr/>
          </p:nvCxnSpPr>
          <p:spPr bwMode="hidden">
            <a:xfrm>
              <a:off x="304847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to 99"/>
            <p:cNvCxnSpPr/>
            <p:nvPr/>
          </p:nvCxnSpPr>
          <p:spPr bwMode="hidden">
            <a:xfrm>
              <a:off x="426760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to 100"/>
            <p:cNvCxnSpPr/>
            <p:nvPr/>
          </p:nvCxnSpPr>
          <p:spPr bwMode="hidden">
            <a:xfrm>
              <a:off x="548674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to 101"/>
            <p:cNvCxnSpPr/>
            <p:nvPr/>
          </p:nvCxnSpPr>
          <p:spPr bwMode="hidden">
            <a:xfrm>
              <a:off x="6705884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to 102"/>
            <p:cNvCxnSpPr/>
            <p:nvPr/>
          </p:nvCxnSpPr>
          <p:spPr bwMode="hidden">
            <a:xfrm>
              <a:off x="7925022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reto 103"/>
            <p:cNvCxnSpPr/>
            <p:nvPr/>
          </p:nvCxnSpPr>
          <p:spPr bwMode="hidden">
            <a:xfrm>
              <a:off x="9144160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reto 104"/>
            <p:cNvCxnSpPr/>
            <p:nvPr/>
          </p:nvCxnSpPr>
          <p:spPr bwMode="hidden">
            <a:xfrm>
              <a:off x="10363298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reto 105"/>
            <p:cNvCxnSpPr/>
            <p:nvPr/>
          </p:nvCxnSpPr>
          <p:spPr bwMode="hidden">
            <a:xfrm>
              <a:off x="11582436" y="0"/>
              <a:ext cx="0" cy="685800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ector reto 106"/>
            <p:cNvCxnSpPr/>
            <p:nvPr/>
          </p:nvCxnSpPr>
          <p:spPr bwMode="hidden">
            <a:xfrm>
              <a:off x="2819" y="38648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ector reto 107"/>
            <p:cNvCxnSpPr/>
            <p:nvPr/>
          </p:nvCxnSpPr>
          <p:spPr bwMode="hidden">
            <a:xfrm>
              <a:off x="2819" y="1611181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ector reto 108"/>
            <p:cNvCxnSpPr/>
            <p:nvPr/>
          </p:nvCxnSpPr>
          <p:spPr bwMode="hidden">
            <a:xfrm>
              <a:off x="2819" y="2835877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reto 109"/>
            <p:cNvCxnSpPr/>
            <p:nvPr/>
          </p:nvCxnSpPr>
          <p:spPr bwMode="hidden">
            <a:xfrm>
              <a:off x="2819" y="4060573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to 110"/>
            <p:cNvCxnSpPr/>
            <p:nvPr/>
          </p:nvCxnSpPr>
          <p:spPr bwMode="hidden">
            <a:xfrm>
              <a:off x="2819" y="5285269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to 111"/>
            <p:cNvCxnSpPr/>
            <p:nvPr/>
          </p:nvCxnSpPr>
          <p:spPr bwMode="hidden">
            <a:xfrm>
              <a:off x="2819" y="6509965"/>
              <a:ext cx="12188952" cy="0"/>
            </a:xfrm>
            <a:prstGeom prst="line">
              <a:avLst/>
            </a:prstGeom>
            <a:ln>
              <a:solidFill>
                <a:schemeClr val="bg1">
                  <a:lumMod val="85000"/>
                  <a:alpha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3" name="Grupo 112"/>
            <p:cNvGrpSpPr/>
            <p:nvPr userDrawn="1"/>
          </p:nvGrpSpPr>
          <p:grpSpPr bwMode="hidden">
            <a:xfrm>
              <a:off x="-1" y="0"/>
              <a:ext cx="12192001" cy="6858000"/>
              <a:chOff x="-1" y="0"/>
              <a:chExt cx="12192001" cy="6858000"/>
            </a:xfrm>
          </p:grpSpPr>
          <p:cxnSp>
            <p:nvCxnSpPr>
              <p:cNvPr id="131" name="Conector reto 130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Conector reto 131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Conector reto 132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Conector reto 133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Conector reto 134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6" name="Grupo 135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42" name="Conector reto 141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Conector reto 142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Conector reto 143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Conector reto 144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Conector reto 145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37" name="Conector reto 136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Conector reto 137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Conector reto 138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Conector reto 139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ector reto 140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4" name="Grupo 113"/>
            <p:cNvGrpSpPr/>
            <p:nvPr userDrawn="1"/>
          </p:nvGrpSpPr>
          <p:grpSpPr bwMode="hidden">
            <a:xfrm flipH="1">
              <a:off x="0" y="0"/>
              <a:ext cx="12192001" cy="6858000"/>
              <a:chOff x="-1" y="0"/>
              <a:chExt cx="12192001" cy="6858000"/>
            </a:xfrm>
          </p:grpSpPr>
          <p:cxnSp>
            <p:nvCxnSpPr>
              <p:cNvPr id="115" name="Conector reto 114"/>
              <p:cNvCxnSpPr/>
              <p:nvPr/>
            </p:nvCxnSpPr>
            <p:spPr bwMode="hidden">
              <a:xfrm>
                <a:off x="225425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Conector reto 115"/>
              <p:cNvCxnSpPr/>
              <p:nvPr/>
            </p:nvCxnSpPr>
            <p:spPr bwMode="hidden">
              <a:xfrm>
                <a:off x="1449154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Conector reto 116"/>
              <p:cNvCxnSpPr/>
              <p:nvPr/>
            </p:nvCxnSpPr>
            <p:spPr bwMode="hidden">
              <a:xfrm>
                <a:off x="266598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Conector reto 117"/>
              <p:cNvCxnSpPr/>
              <p:nvPr/>
            </p:nvCxnSpPr>
            <p:spPr bwMode="hidden">
              <a:xfrm>
                <a:off x="3885119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Conector reto 118"/>
              <p:cNvCxnSpPr/>
              <p:nvPr/>
            </p:nvCxnSpPr>
            <p:spPr bwMode="hidden">
              <a:xfrm>
                <a:off x="5106502" y="0"/>
                <a:ext cx="6815931" cy="6858000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0" name="Grupo 119"/>
              <p:cNvGrpSpPr/>
              <p:nvPr/>
            </p:nvGrpSpPr>
            <p:grpSpPr bwMode="hidden">
              <a:xfrm>
                <a:off x="6327885" y="0"/>
                <a:ext cx="5864115" cy="5898673"/>
                <a:chOff x="6327885" y="0"/>
                <a:chExt cx="5864115" cy="5898673"/>
              </a:xfrm>
            </p:grpSpPr>
            <p:cxnSp>
              <p:nvCxnSpPr>
                <p:cNvPr id="126" name="Conector reto 125"/>
                <p:cNvCxnSpPr/>
                <p:nvPr/>
              </p:nvCxnSpPr>
              <p:spPr bwMode="hidden">
                <a:xfrm>
                  <a:off x="6327885" y="0"/>
                  <a:ext cx="5864115" cy="5898673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Conector reto 126"/>
                <p:cNvCxnSpPr/>
                <p:nvPr/>
              </p:nvCxnSpPr>
              <p:spPr bwMode="hidden">
                <a:xfrm>
                  <a:off x="7549268" y="0"/>
                  <a:ext cx="4642732" cy="4672425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Conector reto 127"/>
                <p:cNvCxnSpPr/>
                <p:nvPr/>
              </p:nvCxnSpPr>
              <p:spPr bwMode="hidden">
                <a:xfrm>
                  <a:off x="8772997" y="0"/>
                  <a:ext cx="3419003" cy="345674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Conector reto 128"/>
                <p:cNvCxnSpPr/>
                <p:nvPr/>
              </p:nvCxnSpPr>
              <p:spPr bwMode="hidden">
                <a:xfrm>
                  <a:off x="9982200" y="0"/>
                  <a:ext cx="2209800" cy="2226469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Conector reto 129"/>
                <p:cNvCxnSpPr/>
                <p:nvPr/>
              </p:nvCxnSpPr>
              <p:spPr bwMode="hidden">
                <a:xfrm>
                  <a:off x="11199019" y="0"/>
                  <a:ext cx="992981" cy="1002506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  <a:alpha val="2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1" name="Conector reto 120"/>
              <p:cNvCxnSpPr/>
              <p:nvPr/>
            </p:nvCxnSpPr>
            <p:spPr bwMode="hidden">
              <a:xfrm flipH="1" flipV="1">
                <a:off x="-1" y="1012053"/>
                <a:ext cx="5828811" cy="58459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Conector reto 121"/>
              <p:cNvCxnSpPr/>
              <p:nvPr/>
            </p:nvCxnSpPr>
            <p:spPr bwMode="hidden">
              <a:xfrm flipH="1" flipV="1">
                <a:off x="-1" y="2227340"/>
                <a:ext cx="4614781" cy="4630658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ector reto 122"/>
              <p:cNvCxnSpPr/>
              <p:nvPr/>
            </p:nvCxnSpPr>
            <p:spPr bwMode="hidden">
              <a:xfrm flipH="1" flipV="1">
                <a:off x="-1" y="3432149"/>
                <a:ext cx="3398419" cy="3425849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ector reto 123"/>
              <p:cNvCxnSpPr/>
              <p:nvPr/>
            </p:nvCxnSpPr>
            <p:spPr bwMode="hidden">
              <a:xfrm flipH="1" flipV="1">
                <a:off x="-1" y="4651431"/>
                <a:ext cx="2196496" cy="2206567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Conector reto 124"/>
              <p:cNvCxnSpPr/>
              <p:nvPr/>
            </p:nvCxnSpPr>
            <p:spPr bwMode="hidden">
              <a:xfrm flipH="1" flipV="1">
                <a:off x="-1" y="5864453"/>
                <a:ext cx="987003" cy="993545"/>
              </a:xfrm>
              <a:prstGeom prst="line">
                <a:avLst/>
              </a:prstGeom>
              <a:ln>
                <a:solidFill>
                  <a:schemeClr val="bg1">
                    <a:lumMod val="85000"/>
                    <a:alpha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pt-BR" noProof="0" dirty="0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0" y="1981201"/>
            <a:ext cx="9601200" cy="3809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pt-BR" noProof="0" dirty="0"/>
              <a:t>Clique para editar o texto Mestre</a:t>
            </a:r>
          </a:p>
          <a:p>
            <a:pPr lvl="1" rtl="0"/>
            <a:r>
              <a:rPr lang="pt-BR" noProof="0" dirty="0"/>
              <a:t>Segundo nível</a:t>
            </a:r>
          </a:p>
          <a:p>
            <a:pPr lvl="2" rtl="0"/>
            <a:r>
              <a:rPr lang="pt-BR" noProof="0" dirty="0"/>
              <a:t>Terceiro nível</a:t>
            </a:r>
          </a:p>
          <a:p>
            <a:pPr lvl="3" rtl="0"/>
            <a:r>
              <a:rPr lang="pt-BR" noProof="0" dirty="0"/>
              <a:t>Quarto nível</a:t>
            </a:r>
          </a:p>
          <a:p>
            <a:pPr lvl="4" rtl="0"/>
            <a:r>
              <a:rPr lang="pt-BR" noProof="0" dirty="0"/>
              <a:t>Quinto nível</a:t>
            </a:r>
          </a:p>
        </p:txBody>
      </p:sp>
      <p:cxnSp>
        <p:nvCxnSpPr>
          <p:cNvPr id="148" name="Conector reto 147"/>
          <p:cNvCxnSpPr/>
          <p:nvPr userDrawn="1"/>
        </p:nvCxnSpPr>
        <p:spPr>
          <a:xfrm>
            <a:off x="609600" y="6172200"/>
            <a:ext cx="10972800" cy="0"/>
          </a:xfrm>
          <a:prstGeom prst="line">
            <a:avLst/>
          </a:prstGeom>
          <a:ln w="1270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609601" y="6289679"/>
            <a:ext cx="6128030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r>
              <a:rPr lang="pt-BR" noProof="0" dirty="0"/>
              <a:t>Adicionar um rodapé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9294042" y="6289679"/>
            <a:ext cx="965946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A04F1B8F-DFE3-4BF7-B882-95DE566932B5}" type="datetime1">
              <a:rPr lang="pt-BR" noProof="0" smtClean="0"/>
              <a:t>07/12/2024</a:t>
            </a:fld>
            <a:endParaRPr lang="pt-BR" noProof="0" dirty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665311" y="6289679"/>
            <a:ext cx="918882" cy="22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rtl="0"/>
            <a:fld id="{E31375A4-56A4-47D6-9801-1991572033F7}" type="slidenum">
              <a:rPr lang="pt-BR" noProof="0" smtClean="0"/>
              <a:pPr rtl="0"/>
              <a:t>‹nº›</a:t>
            </a:fld>
            <a:endParaRPr lang="pt-BR" noProof="0" dirty="0"/>
          </a:p>
        </p:txBody>
      </p:sp>
    </p:spTree>
    <p:extLst>
      <p:ext uri="{BB962C8B-B14F-4D97-AF65-F5344CB8AC3E}">
        <p14:creationId xmlns:p14="http://schemas.microsoft.com/office/powerpoint/2010/main" val="1943259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9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9388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79388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Char char="▪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878012" indent="0" algn="l" defTabSz="914400" rtl="0" eaLnBrk="1" latinLnBrk="0" hangingPunct="1">
        <a:lnSpc>
          <a:spcPct val="90000"/>
        </a:lnSpc>
        <a:spcBef>
          <a:spcPts val="600"/>
        </a:spcBef>
        <a:buClr>
          <a:schemeClr val="accent1">
            <a:lumMod val="75000"/>
          </a:schemeClr>
        </a:buClr>
        <a:buSzPct val="100000"/>
        <a:buFont typeface="Arial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pt-BR" b="1" dirty="0"/>
              <a:t>TI-AS - </a:t>
            </a:r>
            <a:r>
              <a:rPr lang="pt-BR" b="1" dirty="0" err="1"/>
              <a:t>GreenEdge</a:t>
            </a:r>
            <a:r>
              <a:rPr lang="pt-BR" b="1" dirty="0"/>
              <a:t> Analytics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pt-BR" dirty="0"/>
              <a:t>Trabalho Interdisciplinar: Aplicações para Sustentabilidade</a:t>
            </a:r>
          </a:p>
        </p:txBody>
      </p:sp>
    </p:spTree>
    <p:extLst>
      <p:ext uri="{BB962C8B-B14F-4D97-AF65-F5344CB8AC3E}">
        <p14:creationId xmlns:p14="http://schemas.microsoft.com/office/powerpoint/2010/main" val="106904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A2DA08-5EFB-5DA9-20E1-F5085E5C5C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pt-BR" sz="4000" b="1" dirty="0"/>
              <a:t>- Alexandre França Quirino dos Santos</a:t>
            </a:r>
            <a:br>
              <a:rPr lang="pt-BR" sz="4000" b="1" dirty="0"/>
            </a:br>
            <a:r>
              <a:rPr lang="pt-BR" sz="4000" b="1" dirty="0"/>
              <a:t>- Davi Jorge Leite Santos</a:t>
            </a:r>
            <a:br>
              <a:rPr lang="pt-BR" sz="4000" dirty="0"/>
            </a:br>
            <a:r>
              <a:rPr lang="pt-BR" sz="4000" dirty="0"/>
              <a:t>- </a:t>
            </a:r>
            <a:r>
              <a:rPr lang="pt-BR" sz="4000" b="1" dirty="0"/>
              <a:t>Heitor </a:t>
            </a:r>
            <a:r>
              <a:rPr lang="pt-BR" sz="4000" b="1" dirty="0" err="1"/>
              <a:t>Meinicke</a:t>
            </a:r>
            <a:r>
              <a:rPr lang="pt-BR" sz="4000" b="1" dirty="0"/>
              <a:t> Ribeiro</a:t>
            </a:r>
            <a:br>
              <a:rPr lang="pt-BR" sz="4000" dirty="0"/>
            </a:br>
            <a:r>
              <a:rPr lang="pt-BR" sz="4000" dirty="0"/>
              <a:t>- </a:t>
            </a:r>
            <a:r>
              <a:rPr lang="pt-BR" sz="4000" b="1" dirty="0"/>
              <a:t>Samuel Rodrigues </a:t>
            </a:r>
            <a:r>
              <a:rPr lang="pt-BR" sz="4000" b="1" dirty="0" err="1"/>
              <a:t>Cardilo</a:t>
            </a:r>
            <a:r>
              <a:rPr lang="pt-BR" sz="4000" b="1" dirty="0"/>
              <a:t> Van </a:t>
            </a:r>
            <a:r>
              <a:rPr lang="pt-BR" sz="4000" b="1" dirty="0" err="1"/>
              <a:t>Petten</a:t>
            </a:r>
            <a:br>
              <a:rPr lang="pt-BR" sz="4000" dirty="0"/>
            </a:br>
            <a:r>
              <a:rPr lang="pt-BR" sz="4000" dirty="0"/>
              <a:t>- </a:t>
            </a:r>
            <a:r>
              <a:rPr lang="pt-BR" sz="4000" b="1" dirty="0"/>
              <a:t>Samuel Vitor Cardoso Santos</a:t>
            </a:r>
            <a:endParaRPr lang="pt-BR" sz="40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1DFDDD-8875-03CA-E838-987F3A9891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b="1" dirty="0"/>
              <a:t>Integrantes do Grupo</a:t>
            </a:r>
          </a:p>
        </p:txBody>
      </p:sp>
    </p:spTree>
    <p:extLst>
      <p:ext uri="{BB962C8B-B14F-4D97-AF65-F5344CB8AC3E}">
        <p14:creationId xmlns:p14="http://schemas.microsoft.com/office/powerpoint/2010/main" val="334202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8F1DF6-1DF4-885C-7D30-6F1E12DF5E26}"/>
              </a:ext>
            </a:extLst>
          </p:cNvPr>
          <p:cNvSpPr txBox="1">
            <a:spLocks/>
          </p:cNvSpPr>
          <p:nvPr/>
        </p:nvSpPr>
        <p:spPr>
          <a:xfrm>
            <a:off x="1293845" y="1909346"/>
            <a:ext cx="9604310" cy="3383280"/>
          </a:xfrm>
          <a:prstGeom prst="rect">
            <a:avLst/>
          </a:prstGeom>
        </p:spPr>
        <p:txBody>
          <a:bodyPr rtlCol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Dashboard de Monitoramento Energético para Otimização da Eficiência Energética</a:t>
            </a:r>
          </a:p>
        </p:txBody>
      </p:sp>
    </p:spTree>
    <p:extLst>
      <p:ext uri="{BB962C8B-B14F-4D97-AF65-F5344CB8AC3E}">
        <p14:creationId xmlns:p14="http://schemas.microsoft.com/office/powerpoint/2010/main" val="2572166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Apresentação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O projeto propõe o desenvolvimento de um dashboard de monitoramento energético para melhorar a eficiência operacional da Justweb. </a:t>
            </a:r>
          </a:p>
          <a:p>
            <a:r>
              <a:rPr lang="pt-BR" dirty="0"/>
              <a:t>A ferramenta permitirá que gestores e operadores identifiquem ineficiências no consumo de energia, reduzindo custos e promovendo práticas sustentáveis. </a:t>
            </a:r>
          </a:p>
          <a:p>
            <a:r>
              <a:rPr lang="pt-BR" dirty="0"/>
              <a:t>Dados da Agência Internacional de Energia indicam que a eficiência energética é essencial para a competitividade e sustentabilidade no setor empresarial.</a:t>
            </a:r>
          </a:p>
        </p:txBody>
      </p:sp>
    </p:spTree>
    <p:extLst>
      <p:ext uri="{BB962C8B-B14F-4D97-AF65-F5344CB8AC3E}">
        <p14:creationId xmlns:p14="http://schemas.microsoft.com/office/powerpoint/2010/main" val="398461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AE2B9-3CAC-F1EC-AAA3-F047420B7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72D78-4195-3AC7-5326-FAFDF3262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dirty="0"/>
              <a:t>Problema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01F6CF-F6A9-F970-1C94-4E5CBDD9F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>
              <a:buNone/>
            </a:pPr>
            <a:r>
              <a:rPr lang="pt-BR" dirty="0"/>
              <a:t>Atualmente, a Justweb enfrenta desafios como: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Altos custos energéticos devido a ineficiências.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Falta de visibilidade sobre o consumo energético em diferentes setores.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Dificuldade em implementar medidas corretivas devido à ausência de dados integrados e em tempo real.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Aumento da pegada de carbono, prejudicando metas de sustentabilidade.</a:t>
            </a:r>
          </a:p>
        </p:txBody>
      </p:sp>
    </p:spTree>
    <p:extLst>
      <p:ext uri="{BB962C8B-B14F-4D97-AF65-F5344CB8AC3E}">
        <p14:creationId xmlns:p14="http://schemas.microsoft.com/office/powerpoint/2010/main" val="4151186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r>
              <a:rPr lang="pt-BR" sz="6600" b="1" dirty="0"/>
              <a:t>Objetivos do Trabalho</a:t>
            </a:r>
          </a:p>
        </p:txBody>
      </p:sp>
    </p:spTree>
    <p:extLst>
      <p:ext uri="{BB962C8B-B14F-4D97-AF65-F5344CB8AC3E}">
        <p14:creationId xmlns:p14="http://schemas.microsoft.com/office/powerpoint/2010/main" val="236229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1D501-D8B1-F335-BE10-420E5F450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35B16E-505B-EADD-20B7-7A9746959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marL="0" indent="0">
              <a:buNone/>
            </a:pPr>
            <a:r>
              <a:rPr lang="pt-BR" b="1" dirty="0"/>
              <a:t>Objetivo Geral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EA6B1B-E05D-4D88-FD23-AFAB82FAC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Desenvolver um dashboard que centralize e visualize informações de consumo energético, promovendo decisões baseadas em dados para aumentar a eficiência.</a:t>
            </a:r>
          </a:p>
        </p:txBody>
      </p:sp>
    </p:spTree>
    <p:extLst>
      <p:ext uri="{BB962C8B-B14F-4D97-AF65-F5344CB8AC3E}">
        <p14:creationId xmlns:p14="http://schemas.microsoft.com/office/powerpoint/2010/main" val="3500597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7B8AD-EF7D-6A46-5DE5-9985E3164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76D6EA-8447-37E8-9330-916A20A5F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Objetivos Específicos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9EDF45-8309-6EF9-A895-463956588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Monitorar métricas de eficiência energética, como PUE e CUE.</a:t>
            </a:r>
          </a:p>
          <a:p>
            <a:r>
              <a:rPr lang="pt-BR" dirty="0"/>
              <a:t>Gerar relatórios personalizados para diferentes níveis hierárquicos.</a:t>
            </a:r>
          </a:p>
          <a:p>
            <a:r>
              <a:rPr lang="pt-BR" dirty="0"/>
              <a:t>Identificar padrões de consumo e ineficiências.</a:t>
            </a:r>
          </a:p>
          <a:p>
            <a:r>
              <a:rPr lang="pt-BR" dirty="0"/>
              <a:t>Implementar ferramentas interativas, como gráficos dinâmicos e filtros.</a:t>
            </a:r>
          </a:p>
          <a:p>
            <a:r>
              <a:rPr lang="pt-BR" dirty="0"/>
              <a:t>Apoiar práticas sustentáveis, reduzindo custos e impacto ambiental.</a:t>
            </a:r>
          </a:p>
        </p:txBody>
      </p:sp>
    </p:spTree>
    <p:extLst>
      <p:ext uri="{BB962C8B-B14F-4D97-AF65-F5344CB8AC3E}">
        <p14:creationId xmlns:p14="http://schemas.microsoft.com/office/powerpoint/2010/main" val="2681169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82FC59-6C00-69F8-75D0-2986E39FF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C5DCA3-6D94-1166-814D-69A6F05F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Definições e Abreviaturas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8C055E-90E9-7B53-0D47-F928C9694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PUE (Power </a:t>
            </a:r>
            <a:r>
              <a:rPr lang="pt-BR" b="1" dirty="0" err="1"/>
              <a:t>Usage</a:t>
            </a:r>
            <a:r>
              <a:rPr lang="pt-BR" b="1" dirty="0"/>
              <a:t> </a:t>
            </a:r>
            <a:r>
              <a:rPr lang="pt-BR" b="1" dirty="0" err="1"/>
              <a:t>Effectiveness</a:t>
            </a:r>
            <a:r>
              <a:rPr lang="pt-BR" b="1" dirty="0"/>
              <a:t>):</a:t>
            </a:r>
            <a:r>
              <a:rPr lang="pt-BR" dirty="0"/>
              <a:t> Eficiência energética de data centers, calculada pela razão entre energia total consumida e energia usada pelos equipamentos de TI.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WUE (Water </a:t>
            </a:r>
            <a:r>
              <a:rPr lang="pt-BR" b="1" dirty="0" err="1"/>
              <a:t>Usage</a:t>
            </a:r>
            <a:r>
              <a:rPr lang="pt-BR" b="1" dirty="0"/>
              <a:t> </a:t>
            </a:r>
            <a:r>
              <a:rPr lang="pt-BR" b="1" dirty="0" err="1"/>
              <a:t>Effectiveness</a:t>
            </a:r>
            <a:r>
              <a:rPr lang="pt-BR" b="1" dirty="0"/>
              <a:t>):</a:t>
            </a:r>
            <a:r>
              <a:rPr lang="pt-BR" dirty="0"/>
              <a:t> Eficiência do uso de água em data centers.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CUE (Carbon </a:t>
            </a:r>
            <a:r>
              <a:rPr lang="pt-BR" b="1" dirty="0" err="1"/>
              <a:t>Usage</a:t>
            </a:r>
            <a:r>
              <a:rPr lang="pt-BR" b="1" dirty="0"/>
              <a:t> </a:t>
            </a:r>
            <a:r>
              <a:rPr lang="pt-BR" b="1" dirty="0" err="1"/>
              <a:t>Effectiveness</a:t>
            </a:r>
            <a:r>
              <a:rPr lang="pt-BR" b="1" dirty="0"/>
              <a:t>):</a:t>
            </a:r>
            <a:r>
              <a:rPr lang="pt-BR" dirty="0"/>
              <a:t> Relação entre carbono emitido e energia consumida.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MTBF (Mean Time </a:t>
            </a:r>
            <a:r>
              <a:rPr lang="pt-BR" b="1" dirty="0" err="1"/>
              <a:t>Between</a:t>
            </a:r>
            <a:r>
              <a:rPr lang="pt-BR" b="1" dirty="0"/>
              <a:t> Failures):</a:t>
            </a:r>
            <a:r>
              <a:rPr lang="pt-BR" dirty="0"/>
              <a:t> Média de tempo entre falhas, usado para medir confiabilidade.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b="1" dirty="0"/>
              <a:t>Fan </a:t>
            </a:r>
            <a:r>
              <a:rPr lang="pt-BR" b="1" dirty="0" err="1"/>
              <a:t>Efficiency</a:t>
            </a:r>
            <a:r>
              <a:rPr lang="pt-BR" b="1" dirty="0"/>
              <a:t>:</a:t>
            </a:r>
            <a:r>
              <a:rPr lang="pt-BR" dirty="0"/>
              <a:t> Indicador de eficiência de ventiladores, essencial para gestão térmica.</a:t>
            </a:r>
          </a:p>
        </p:txBody>
      </p:sp>
    </p:spTree>
    <p:extLst>
      <p:ext uri="{BB962C8B-B14F-4D97-AF65-F5344CB8AC3E}">
        <p14:creationId xmlns:p14="http://schemas.microsoft.com/office/powerpoint/2010/main" val="1021711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Requisitos do Sistema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0" indent="0" rtl="0">
              <a:spcBef>
                <a:spcPts val="0"/>
              </a:spcBef>
              <a:buNone/>
            </a:pPr>
            <a:r>
              <a:rPr lang="pt-BR" sz="1800" b="1" dirty="0"/>
              <a:t>Atores</a:t>
            </a:r>
            <a:br>
              <a:rPr lang="pt-BR" sz="1800" b="1" dirty="0"/>
            </a:br>
            <a:endParaRPr lang="pt-BR" sz="1800" b="1" dirty="0"/>
          </a:p>
          <a:p>
            <a:pPr rtl="0">
              <a:spcBef>
                <a:spcPts val="0"/>
              </a:spcBef>
            </a:pPr>
            <a:r>
              <a:rPr lang="pt-BR" sz="1800" b="1" dirty="0"/>
              <a:t>Gestor de TI: </a:t>
            </a:r>
            <a:r>
              <a:rPr lang="pt-BR" sz="1800" dirty="0"/>
              <a:t>Necessita de relatórios para decisões estratégicas.</a:t>
            </a:r>
          </a:p>
          <a:p>
            <a:pPr rtl="0">
              <a:spcBef>
                <a:spcPts val="0"/>
              </a:spcBef>
            </a:pPr>
            <a:r>
              <a:rPr lang="pt-BR" sz="1800" b="1" dirty="0"/>
              <a:t>Analista de Dados: </a:t>
            </a:r>
            <a:r>
              <a:rPr lang="pt-BR" sz="1800" dirty="0"/>
              <a:t>Avalia padrões e tendências de consumo.</a:t>
            </a:r>
          </a:p>
          <a:p>
            <a:pPr rtl="0">
              <a:spcBef>
                <a:spcPts val="0"/>
              </a:spcBef>
            </a:pPr>
            <a:r>
              <a:rPr lang="pt-BR" sz="1800" b="1" dirty="0"/>
              <a:t>Diretoria Executiva: </a:t>
            </a:r>
            <a:r>
              <a:rPr lang="pt-BR" sz="1800" dirty="0"/>
              <a:t>Busca KPIs simples e claros para planejamento.</a:t>
            </a:r>
          </a:p>
          <a:p>
            <a:pPr rtl="0">
              <a:spcBef>
                <a:spcPts val="0"/>
              </a:spcBef>
            </a:pPr>
            <a:r>
              <a:rPr lang="pt-BR" sz="1800" b="1" dirty="0"/>
              <a:t>Operador de Servidores: </a:t>
            </a:r>
            <a:r>
              <a:rPr lang="pt-BR" sz="1800" dirty="0"/>
              <a:t>Monitora métricas operacionais.</a:t>
            </a:r>
          </a:p>
          <a:p>
            <a:pPr marL="0" indent="0" rtl="0">
              <a:spcBef>
                <a:spcPts val="0"/>
              </a:spcBef>
              <a:buNone/>
            </a:pPr>
            <a:endParaRPr lang="pt-BR" sz="1800" dirty="0"/>
          </a:p>
          <a:p>
            <a:pPr marL="0" indent="0" rtl="0">
              <a:spcBef>
                <a:spcPts val="0"/>
              </a:spcBef>
              <a:buNone/>
            </a:pPr>
            <a:r>
              <a:rPr lang="pt-BR" sz="1800" b="1" dirty="0"/>
              <a:t>Funcionalidades Principais</a:t>
            </a:r>
            <a:br>
              <a:rPr lang="pt-BR" sz="1800" b="1" dirty="0"/>
            </a:br>
            <a:endParaRPr lang="pt-BR" sz="1800" b="1" dirty="0"/>
          </a:p>
          <a:p>
            <a:pPr rtl="0">
              <a:spcBef>
                <a:spcPts val="0"/>
              </a:spcBef>
            </a:pPr>
            <a:r>
              <a:rPr lang="pt-BR" sz="1800" b="1" dirty="0"/>
              <a:t>Visualização de métricas energéticas: </a:t>
            </a:r>
            <a:r>
              <a:rPr lang="pt-BR" sz="1800" dirty="0"/>
              <a:t>PUE, WUE, CUE e outras.</a:t>
            </a:r>
          </a:p>
          <a:p>
            <a:pPr rtl="0">
              <a:spcBef>
                <a:spcPts val="0"/>
              </a:spcBef>
            </a:pPr>
            <a:r>
              <a:rPr lang="pt-BR" sz="1800" b="1" dirty="0"/>
              <a:t>Monitoramento em tempo real: </a:t>
            </a:r>
            <a:r>
              <a:rPr lang="pt-BR" sz="1800" dirty="0"/>
              <a:t>Consumo de energia e condições dos servidores.</a:t>
            </a:r>
          </a:p>
          <a:p>
            <a:pPr rtl="0">
              <a:spcBef>
                <a:spcPts val="0"/>
              </a:spcBef>
            </a:pPr>
            <a:r>
              <a:rPr lang="pt-BR" sz="1800" b="1" dirty="0"/>
              <a:t>Relatórios detalhados: </a:t>
            </a:r>
            <a:r>
              <a:rPr lang="pt-BR" sz="1800" dirty="0"/>
              <a:t>Personalizados por período e setores.</a:t>
            </a:r>
          </a:p>
          <a:p>
            <a:pPr rtl="0">
              <a:spcBef>
                <a:spcPts val="0"/>
              </a:spcBef>
            </a:pPr>
            <a:r>
              <a:rPr lang="pt-BR" sz="1800" b="1" dirty="0"/>
              <a:t>Exportação de gráficos e relatórios: </a:t>
            </a:r>
            <a:r>
              <a:rPr lang="pt-BR" sz="1800" dirty="0"/>
              <a:t>Compatíveis com apresentações.</a:t>
            </a:r>
          </a:p>
          <a:p>
            <a:pPr rtl="0">
              <a:spcBef>
                <a:spcPts val="0"/>
              </a:spcBef>
            </a:pPr>
            <a:r>
              <a:rPr lang="pt-BR" sz="1800" b="1" dirty="0"/>
              <a:t>Alertas automáticos: </a:t>
            </a:r>
            <a:r>
              <a:rPr lang="pt-BR" sz="1800" dirty="0"/>
              <a:t>Notificações para quedas de desempenho ou consumo anormal.</a:t>
            </a:r>
          </a:p>
        </p:txBody>
      </p:sp>
    </p:spTree>
    <p:extLst>
      <p:ext uri="{BB962C8B-B14F-4D97-AF65-F5344CB8AC3E}">
        <p14:creationId xmlns:p14="http://schemas.microsoft.com/office/powerpoint/2010/main" val="4101607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D47B8-9393-92BE-8B93-53EFE4353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Modelagem e Arquitetura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27E1AC-28FB-AD21-ED48-BB4BC1F9B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5431535"/>
            <a:ext cx="9601200" cy="873011"/>
          </a:xfrm>
        </p:spPr>
        <p:txBody>
          <a:bodyPr>
            <a:noAutofit/>
          </a:bodyPr>
          <a:lstStyle/>
          <a:p>
            <a:r>
              <a:rPr lang="pt-BR" sz="2400" dirty="0"/>
              <a:t>A arquitetura segue o modelo C4, organizado em níveis que vão do contexto geral à implementação detalhada</a:t>
            </a:r>
          </a:p>
        </p:txBody>
      </p:sp>
    </p:spTree>
    <p:extLst>
      <p:ext uri="{BB962C8B-B14F-4D97-AF65-F5344CB8AC3E}">
        <p14:creationId xmlns:p14="http://schemas.microsoft.com/office/powerpoint/2010/main" val="2404022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FB220-21B9-5BB5-A3BC-8D2B6FD2E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A88BC0-7034-8C4B-71E3-67A875B30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Nível 1: Contexto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629CDF-C14A-8BE3-BA75-F5E10F782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>
              <a:buNone/>
            </a:pPr>
            <a:r>
              <a:rPr lang="pt-BR" dirty="0"/>
              <a:t>Mostra a interação entre o sistema, os usuários e as fontes de dados externas.</a:t>
            </a:r>
          </a:p>
          <a:p>
            <a:pPr marL="0" indent="0">
              <a:buNone/>
            </a:pPr>
            <a:r>
              <a:rPr lang="pt-BR" b="1" dirty="0"/>
              <a:t>Principais Elementos:</a:t>
            </a:r>
          </a:p>
          <a:p>
            <a:r>
              <a:rPr lang="pt-BR" b="1" dirty="0"/>
              <a:t>Fontes de Dados: </a:t>
            </a:r>
            <a:r>
              <a:rPr lang="pt-BR" dirty="0"/>
              <a:t>Sensores e planilhas Excel.</a:t>
            </a:r>
          </a:p>
          <a:p>
            <a:r>
              <a:rPr lang="pt-BR" b="1" dirty="0"/>
              <a:t>Usuários: </a:t>
            </a:r>
            <a:r>
              <a:rPr lang="pt-BR" dirty="0"/>
              <a:t>Gestores, analistas e operadores.</a:t>
            </a:r>
          </a:p>
          <a:p>
            <a:r>
              <a:rPr lang="pt-BR" b="1" dirty="0"/>
              <a:t>Dashboard Power BI: </a:t>
            </a:r>
            <a:r>
              <a:rPr lang="pt-BR" dirty="0"/>
              <a:t>Interface de visualização de dados.</a:t>
            </a:r>
          </a:p>
        </p:txBody>
      </p:sp>
    </p:spTree>
    <p:extLst>
      <p:ext uri="{BB962C8B-B14F-4D97-AF65-F5344CB8AC3E}">
        <p14:creationId xmlns:p14="http://schemas.microsoft.com/office/powerpoint/2010/main" val="4252990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5802-DF05-D41D-5D9A-FE328947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, Esquemático&#10;&#10;Descrição gerada automaticamente">
            <a:extLst>
              <a:ext uri="{FF2B5EF4-FFF2-40B4-BE49-F238E27FC236}">
                <a16:creationId xmlns:a16="http://schemas.microsoft.com/office/drawing/2014/main" id="{120AAD7D-CB1F-D9C6-D500-26E04BF198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047"/>
          <a:stretch/>
        </p:blipFill>
        <p:spPr>
          <a:xfrm>
            <a:off x="1969108" y="333103"/>
            <a:ext cx="8253783" cy="619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74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8B6C9-BC9C-1AAF-E9C0-0A7BD2479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0AF9D-3007-4578-2494-DEED1897B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Nível 2: Contêiner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4E91DF-36AD-EE20-5E71-9F2D2F083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>
              <a:buNone/>
            </a:pPr>
            <a:r>
              <a:rPr lang="pt-BR" dirty="0"/>
              <a:t>Define os módulos do sistema e suas responsabilidades.</a:t>
            </a:r>
          </a:p>
          <a:p>
            <a:pPr marL="0" indent="0">
              <a:buNone/>
            </a:pPr>
            <a:r>
              <a:rPr lang="pt-BR" b="1" dirty="0"/>
              <a:t>Componentes Chave:</a:t>
            </a:r>
          </a:p>
          <a:p>
            <a:r>
              <a:rPr lang="pt-BR" dirty="0"/>
              <a:t>Dashboard: Apresenta dados visuais interativos.</a:t>
            </a:r>
          </a:p>
          <a:p>
            <a:r>
              <a:rPr lang="pt-BR" dirty="0"/>
              <a:t>Sistema de Autenticação: Garante acesso seguro.</a:t>
            </a:r>
          </a:p>
          <a:p>
            <a:r>
              <a:rPr lang="pt-BR" dirty="0"/>
              <a:t>Serviço de Monitoramento: Processa métricas como PUE e WUE.</a:t>
            </a:r>
          </a:p>
          <a:p>
            <a:r>
              <a:rPr lang="pt-BR" dirty="0"/>
              <a:t>Sensores e APIs: Fornecem dados em tempo real.</a:t>
            </a:r>
          </a:p>
          <a:p>
            <a:r>
              <a:rPr lang="pt-BR" dirty="0"/>
              <a:t>Banco de Dados: Armazena dados históricos e métricas.</a:t>
            </a:r>
          </a:p>
        </p:txBody>
      </p:sp>
    </p:spTree>
    <p:extLst>
      <p:ext uri="{BB962C8B-B14F-4D97-AF65-F5344CB8AC3E}">
        <p14:creationId xmlns:p14="http://schemas.microsoft.com/office/powerpoint/2010/main" val="13492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4112A383-BEDB-9F45-A75D-F8A176A446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2095"/>
          <a:stretch/>
        </p:blipFill>
        <p:spPr>
          <a:xfrm>
            <a:off x="2051363" y="111034"/>
            <a:ext cx="8089274" cy="663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610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4FABA-715B-6B38-B3E3-87C0278CA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Descrição gerada automaticamente com confiança baixa">
            <a:extLst>
              <a:ext uri="{FF2B5EF4-FFF2-40B4-BE49-F238E27FC236}">
                <a16:creationId xmlns:a16="http://schemas.microsoft.com/office/drawing/2014/main" id="{3DF405EB-300B-DBA6-5D10-86C7860BF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587" y="0"/>
            <a:ext cx="4840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00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CAA48-2BCA-DAFA-F0A4-28879B170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2E843-377E-CD06-839A-8E2553E5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Nível 3: Componentes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075F4B-0D29-DFCF-5AF5-CDFDCF954E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>
              <a:buNone/>
            </a:pPr>
            <a:r>
              <a:rPr lang="pt-BR" dirty="0"/>
              <a:t>Estrutura detalhada do sistema, destacando como os dados fluem entre sensores, ETL (Extração, Transformação e Carga) e dashboards.</a:t>
            </a:r>
          </a:p>
          <a:p>
            <a:pPr marL="0" indent="0">
              <a:buNone/>
            </a:pPr>
            <a:r>
              <a:rPr lang="pt-BR" b="1" dirty="0"/>
              <a:t>Processo</a:t>
            </a:r>
            <a:r>
              <a:rPr lang="pt-BR" dirty="0"/>
              <a:t>:</a:t>
            </a:r>
          </a:p>
          <a:p>
            <a:r>
              <a:rPr lang="pt-BR" dirty="0"/>
              <a:t>Dados extraídos de sensores e APIs.</a:t>
            </a:r>
          </a:p>
          <a:p>
            <a:r>
              <a:rPr lang="pt-BR" dirty="0"/>
              <a:t>Transformados com DAX no Power BI.</a:t>
            </a:r>
          </a:p>
          <a:p>
            <a:r>
              <a:rPr lang="pt-BR" dirty="0"/>
              <a:t>Visualizados em gráficos e relatórios interativos.</a:t>
            </a:r>
          </a:p>
        </p:txBody>
      </p:sp>
    </p:spTree>
    <p:extLst>
      <p:ext uri="{BB962C8B-B14F-4D97-AF65-F5344CB8AC3E}">
        <p14:creationId xmlns:p14="http://schemas.microsoft.com/office/powerpoint/2010/main" val="1721141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5D840-C240-82AC-BBD6-DAB0A8749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Diagrama&#10;&#10;Descrição gerada automaticamente">
            <a:extLst>
              <a:ext uri="{FF2B5EF4-FFF2-40B4-BE49-F238E27FC236}">
                <a16:creationId xmlns:a16="http://schemas.microsoft.com/office/drawing/2014/main" id="{A7AE14C9-36C4-FF44-A73F-FFB4832B6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587" y="0"/>
            <a:ext cx="48408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877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39184-E1F4-914E-0AF3-03EC539D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19FCC-DFA3-9B00-D50A-68ADD3E6D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Nível 4: Diagrama de Classe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2E9EA6-C55D-D42A-0A70-36E8EBC67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Representação detalhada das classes principais e seus métodos no processo de coleta, transformação e exibição de dados. </a:t>
            </a:r>
          </a:p>
          <a:p>
            <a:r>
              <a:rPr lang="pt-BR" dirty="0"/>
              <a:t>Este nível destaca como o sistema organiza a lógica de ETL (Extração, Transformação e Carga) e a interação com o dashboard Power BI.</a:t>
            </a:r>
          </a:p>
        </p:txBody>
      </p:sp>
    </p:spTree>
    <p:extLst>
      <p:ext uri="{BB962C8B-B14F-4D97-AF65-F5344CB8AC3E}">
        <p14:creationId xmlns:p14="http://schemas.microsoft.com/office/powerpoint/2010/main" val="1043984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1E4070-E08F-7B56-7563-7E5BC1D6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Diagrama&#10;&#10;Descrição gerada automaticamente">
            <a:extLst>
              <a:ext uri="{FF2B5EF4-FFF2-40B4-BE49-F238E27FC236}">
                <a16:creationId xmlns:a16="http://schemas.microsoft.com/office/drawing/2014/main" id="{47FC36E9-4508-D037-FE2D-E36867C741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608" b="29825"/>
          <a:stretch/>
        </p:blipFill>
        <p:spPr>
          <a:xfrm>
            <a:off x="1645816" y="934452"/>
            <a:ext cx="8900368" cy="4989096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2B15D0C1-4AAA-C995-F432-7B28683FBA15}"/>
              </a:ext>
            </a:extLst>
          </p:cNvPr>
          <p:cNvSpPr txBox="1">
            <a:spLocks/>
          </p:cNvSpPr>
          <p:nvPr/>
        </p:nvSpPr>
        <p:spPr>
          <a:xfrm>
            <a:off x="1295400" y="503853"/>
            <a:ext cx="9601200" cy="1142385"/>
          </a:xfrm>
          <a:prstGeom prst="rect">
            <a:avLst/>
          </a:prstGeom>
        </p:spPr>
        <p:txBody>
          <a:bodyPr rtlCol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Diagrama de classe</a:t>
            </a:r>
          </a:p>
        </p:txBody>
      </p:sp>
    </p:spTree>
    <p:extLst>
      <p:ext uri="{BB962C8B-B14F-4D97-AF65-F5344CB8AC3E}">
        <p14:creationId xmlns:p14="http://schemas.microsoft.com/office/powerpoint/2010/main" val="2283727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8D52B-513A-2D23-7BF9-AC64CB6D2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Diagrama&#10;&#10;Descrição gerada automaticamente">
            <a:extLst>
              <a:ext uri="{FF2B5EF4-FFF2-40B4-BE49-F238E27FC236}">
                <a16:creationId xmlns:a16="http://schemas.microsoft.com/office/drawing/2014/main" id="{0DA298D4-BC2B-EBAA-8633-DAA9343DA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246" b="19064"/>
          <a:stretch/>
        </p:blipFill>
        <p:spPr>
          <a:xfrm>
            <a:off x="2458606" y="397042"/>
            <a:ext cx="7274787" cy="646095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30815D3-55DD-BFAC-591F-7186CAE5A45D}"/>
              </a:ext>
            </a:extLst>
          </p:cNvPr>
          <p:cNvSpPr txBox="1">
            <a:spLocks/>
          </p:cNvSpPr>
          <p:nvPr/>
        </p:nvSpPr>
        <p:spPr>
          <a:xfrm>
            <a:off x="1295399" y="0"/>
            <a:ext cx="9601200" cy="1142385"/>
          </a:xfrm>
          <a:prstGeom prst="rect">
            <a:avLst/>
          </a:prstGeom>
        </p:spPr>
        <p:txBody>
          <a:bodyPr rtlCol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Diagrama de classe</a:t>
            </a:r>
          </a:p>
        </p:txBody>
      </p:sp>
    </p:spTree>
    <p:extLst>
      <p:ext uri="{BB962C8B-B14F-4D97-AF65-F5344CB8AC3E}">
        <p14:creationId xmlns:p14="http://schemas.microsoft.com/office/powerpoint/2010/main" val="762242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C4A4-4BD1-5924-AC5E-9DAE9E317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D9F16A-5694-6173-F07D-07CEE7D72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algn="ctr"/>
            <a:r>
              <a:rPr lang="pt-BR" b="1" dirty="0"/>
              <a:t>Diagrama extra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269DAD-9518-7BBC-9AB3-5F123C945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marL="0" indent="0" algn="ctr">
              <a:buNone/>
            </a:pPr>
            <a:r>
              <a:rPr lang="pt-BR" dirty="0"/>
              <a:t>Esse diagrama tem objetivo de mostrar a arquitetura inicial do projeto.</a:t>
            </a:r>
          </a:p>
        </p:txBody>
      </p:sp>
    </p:spTree>
    <p:extLst>
      <p:ext uri="{BB962C8B-B14F-4D97-AF65-F5344CB8AC3E}">
        <p14:creationId xmlns:p14="http://schemas.microsoft.com/office/powerpoint/2010/main" val="1619037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02FC7-D851-E95A-B54E-00180CEFE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DD2B490C-B4BB-9674-B222-8BA679526C07}"/>
              </a:ext>
            </a:extLst>
          </p:cNvPr>
          <p:cNvSpPr txBox="1">
            <a:spLocks/>
          </p:cNvSpPr>
          <p:nvPr/>
        </p:nvSpPr>
        <p:spPr>
          <a:xfrm>
            <a:off x="1295399" y="0"/>
            <a:ext cx="9601200" cy="1142385"/>
          </a:xfrm>
          <a:prstGeom prst="rect">
            <a:avLst/>
          </a:prstGeom>
        </p:spPr>
        <p:txBody>
          <a:bodyPr rtlCol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dirty="0"/>
              <a:t>Diagrama arquitetural</a:t>
            </a:r>
          </a:p>
        </p:txBody>
      </p:sp>
      <p:pic>
        <p:nvPicPr>
          <p:cNvPr id="3" name="Imagem 2" descr="Interface gráfica do usuário, Diagrama&#10;&#10;Descrição gerada automaticamente">
            <a:extLst>
              <a:ext uri="{FF2B5EF4-FFF2-40B4-BE49-F238E27FC236}">
                <a16:creationId xmlns:a16="http://schemas.microsoft.com/office/drawing/2014/main" id="{CB5EA57A-7247-F555-C4D7-9E3A6BAAC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380" y="567990"/>
            <a:ext cx="11707239" cy="6121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5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9F1E6-A552-F13D-7791-E6466BD69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E63448-C67D-22A1-136E-6F4B06393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Resultados Esperados</a:t>
            </a:r>
          </a:p>
        </p:txBody>
      </p:sp>
    </p:spTree>
    <p:extLst>
      <p:ext uri="{BB962C8B-B14F-4D97-AF65-F5344CB8AC3E}">
        <p14:creationId xmlns:p14="http://schemas.microsoft.com/office/powerpoint/2010/main" val="179702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DEA44-18EC-9D63-DD77-43349F740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80B62-35AE-BC17-08A1-B3F0F02AB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Principais Entregas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24172E-A705-5762-ECF5-65F798C3F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buFont typeface="+mj-lt"/>
              <a:buAutoNum type="arabicPeriod"/>
            </a:pPr>
            <a:r>
              <a:rPr lang="pt-BR" b="1" dirty="0"/>
              <a:t>Dashboard de Monitoramento Energético: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Interface intuitiva com métricas e relatórios.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Relatórios Personalizados: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Análises detalhadas com gráficos exportáveis.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Melhorias Operacionais: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Identificação e mitigação de ineficiências.</a:t>
            </a:r>
          </a:p>
          <a:p>
            <a:pPr>
              <a:buFont typeface="+mj-lt"/>
              <a:buAutoNum type="arabicPeriod"/>
            </a:pPr>
            <a:r>
              <a:rPr lang="pt-BR" b="1" dirty="0"/>
              <a:t>Contribuição para Sustentabilidade:</a:t>
            </a:r>
            <a:endParaRPr lang="pt-BR" dirty="0"/>
          </a:p>
          <a:p>
            <a:pPr marL="742950" lvl="1" indent="-285750">
              <a:buFont typeface="+mj-lt"/>
              <a:buAutoNum type="arabicPeriod"/>
            </a:pPr>
            <a:r>
              <a:rPr lang="pt-BR" dirty="0"/>
              <a:t>Redução do consumo e pegada de carbono.</a:t>
            </a:r>
          </a:p>
        </p:txBody>
      </p:sp>
    </p:spTree>
    <p:extLst>
      <p:ext uri="{BB962C8B-B14F-4D97-AF65-F5344CB8AC3E}">
        <p14:creationId xmlns:p14="http://schemas.microsoft.com/office/powerpoint/2010/main" val="3945567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69BF1-94B3-10BA-1D9E-86B6BC12D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D66A26-D73C-8D25-94DD-A94A95965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Benefícios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ABBD45-2DF8-E072-E648-63D931C1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Redução de custos energéticos.</a:t>
            </a:r>
          </a:p>
          <a:p>
            <a:r>
              <a:rPr lang="pt-BR" dirty="0"/>
              <a:t>Visibilidade centralizada sobre o consumo.</a:t>
            </a:r>
          </a:p>
          <a:p>
            <a:r>
              <a:rPr lang="pt-BR" dirty="0"/>
              <a:t>Suporte à tomada de decisões estratégicas.</a:t>
            </a:r>
          </a:p>
          <a:p>
            <a:r>
              <a:rPr lang="pt-BR" dirty="0"/>
              <a:t>Apoio a metas de sustentabilidade corporativa.</a:t>
            </a:r>
          </a:p>
        </p:txBody>
      </p:sp>
    </p:spTree>
    <p:extLst>
      <p:ext uri="{BB962C8B-B14F-4D97-AF65-F5344CB8AC3E}">
        <p14:creationId xmlns:p14="http://schemas.microsoft.com/office/powerpoint/2010/main" val="1022474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6ADDC-8E26-44E0-A459-7686FD6C7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5F743-B984-2CDD-40A9-E2FBEE236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b="1" dirty="0"/>
              <a:t>Feedback do Cliente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346A4865-F6A8-9E9C-2613-1FE85FA7B6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Autofit/>
          </a:bodyPr>
          <a:lstStyle/>
          <a:p>
            <a:pPr marL="0" indent="0">
              <a:buNone/>
            </a:pPr>
            <a:r>
              <a:rPr lang="pt-BR" sz="1600" b="1" dirty="0"/>
              <a:t>Aspectos Positivos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b="1" dirty="0"/>
              <a:t>Simplicidade e Interatividade:</a:t>
            </a:r>
            <a:r>
              <a:rPr lang="pt-BR" sz="1600" dirty="0"/>
              <a:t> Fácil de usar e navegar.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b="1" dirty="0"/>
              <a:t>Visibilidade em Tempo Real:</a:t>
            </a:r>
            <a:r>
              <a:rPr lang="pt-BR" sz="1600" dirty="0"/>
              <a:t> Auxilia em decisões rápidas e informadas.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b="1" dirty="0"/>
              <a:t>Conformidade com as Necessidades:</a:t>
            </a:r>
            <a:r>
              <a:rPr lang="pt-BR" sz="1600" dirty="0"/>
              <a:t> Métricas atendem às demandas do setor.</a:t>
            </a:r>
          </a:p>
          <a:p>
            <a:pPr marL="0" indent="0">
              <a:buNone/>
            </a:pPr>
            <a:endParaRPr lang="pt-BR" sz="1600" b="1" dirty="0"/>
          </a:p>
          <a:p>
            <a:pPr marL="0" indent="0">
              <a:buNone/>
            </a:pPr>
            <a:r>
              <a:rPr lang="pt-BR" sz="1600" b="1" dirty="0"/>
              <a:t>Sugestões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Ampliar integração com mais métricas e fontes de dados.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1600" dirty="0"/>
              <a:t>Melhorar escalabilidade para grandes volumes de registros.</a:t>
            </a:r>
          </a:p>
        </p:txBody>
      </p:sp>
    </p:spTree>
    <p:extLst>
      <p:ext uri="{BB962C8B-B14F-4D97-AF65-F5344CB8AC3E}">
        <p14:creationId xmlns:p14="http://schemas.microsoft.com/office/powerpoint/2010/main" val="324275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3368D-2181-D374-EE4E-0AC2759B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Texto&#10;&#10;Descrição gerada automaticamente">
            <a:extLst>
              <a:ext uri="{FF2B5EF4-FFF2-40B4-BE49-F238E27FC236}">
                <a16:creationId xmlns:a16="http://schemas.microsoft.com/office/drawing/2014/main" id="{C275699A-8F84-2C69-752F-0F16E12D3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0214" y="0"/>
            <a:ext cx="77115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13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6F615E-4A9C-E661-BA4E-4FFB2A80F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texto preto sobre fundo branco&#10;&#10;Descrição gerada automaticamente">
            <a:extLst>
              <a:ext uri="{FF2B5EF4-FFF2-40B4-BE49-F238E27FC236}">
                <a16:creationId xmlns:a16="http://schemas.microsoft.com/office/drawing/2014/main" id="{02BDBBA5-0572-8D94-9BEC-76CD99FF8E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7089" y="0"/>
            <a:ext cx="62778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72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AB0D3-56C8-A7CC-209D-8287AF778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la de computador com fundo verde&#10;&#10;Descrição gerada automaticamente">
            <a:extLst>
              <a:ext uri="{FF2B5EF4-FFF2-40B4-BE49-F238E27FC236}">
                <a16:creationId xmlns:a16="http://schemas.microsoft.com/office/drawing/2014/main" id="{2520EC56-C241-D960-CEB3-563281377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014" y="0"/>
            <a:ext cx="79239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33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8A6E6-0A5B-D7D6-0FF0-A4B3D396E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765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8C3E-48DE-C321-1046-BACF3B25B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EC2B9F-5A62-1161-36FB-F75BBA934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Aplicação Distribuída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17CDBB-AA73-3602-FA02-1A9BD405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r>
              <a:rPr lang="pt-BR" dirty="0"/>
              <a:t>A aplicação foi desenvolvida com uma arquitetura distribuída, utilizando </a:t>
            </a:r>
            <a:r>
              <a:rPr lang="pt-BR" b="1" dirty="0" err="1"/>
              <a:t>Flask</a:t>
            </a:r>
            <a:r>
              <a:rPr lang="pt-BR" dirty="0"/>
              <a:t> como </a:t>
            </a:r>
            <a:r>
              <a:rPr lang="pt-BR" dirty="0" err="1"/>
              <a:t>backend</a:t>
            </a:r>
            <a:r>
              <a:rPr lang="pt-BR" dirty="0"/>
              <a:t> para processamento e APIs, </a:t>
            </a:r>
            <a:r>
              <a:rPr lang="pt-BR" b="1" dirty="0" err="1"/>
              <a:t>LocalStorage</a:t>
            </a:r>
            <a:r>
              <a:rPr lang="pt-BR" dirty="0"/>
              <a:t> para armazenamento temporário no cliente, e </a:t>
            </a:r>
            <a:r>
              <a:rPr lang="pt-BR" b="1" dirty="0"/>
              <a:t>Node.js</a:t>
            </a:r>
            <a:r>
              <a:rPr lang="pt-BR" dirty="0"/>
              <a:t> para servir os arquivos estáticos com um servidor HTTP simples. </a:t>
            </a:r>
          </a:p>
          <a:p>
            <a:r>
              <a:rPr lang="pt-BR" dirty="0"/>
              <a:t>Scripts em </a:t>
            </a:r>
            <a:r>
              <a:rPr lang="pt-BR" b="1" dirty="0" err="1"/>
              <a:t>PowerShell</a:t>
            </a:r>
            <a:r>
              <a:rPr lang="pt-BR" dirty="0"/>
              <a:t> e arquivos </a:t>
            </a:r>
            <a:r>
              <a:rPr lang="pt-BR" b="1" dirty="0"/>
              <a:t>.</a:t>
            </a:r>
            <a:r>
              <a:rPr lang="pt-BR" b="1" dirty="0" err="1"/>
              <a:t>bat</a:t>
            </a:r>
            <a:r>
              <a:rPr lang="pt-BR" dirty="0"/>
              <a:t> foram implementados para automatizar tarefas, como inicialização do servidor, execução local e integração dos componentes de forma eficiente.</a:t>
            </a:r>
          </a:p>
          <a:p>
            <a:r>
              <a:rPr lang="pt-BR" dirty="0"/>
              <a:t>Após iniciado, é feito a integração com o Power Bi, por meio da atualização do arquivo </a:t>
            </a:r>
            <a:r>
              <a:rPr lang="pt-BR" dirty="0" err="1"/>
              <a:t>xlsx</a:t>
            </a:r>
            <a:r>
              <a:rPr lang="pt-BR" dirty="0"/>
              <a:t>, onde ele é atualizado por meio da aplicação web.</a:t>
            </a:r>
          </a:p>
        </p:txBody>
      </p:sp>
    </p:spTree>
    <p:extLst>
      <p:ext uri="{BB962C8B-B14F-4D97-AF65-F5344CB8AC3E}">
        <p14:creationId xmlns:p14="http://schemas.microsoft.com/office/powerpoint/2010/main" val="203640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49D8D-1BB9-46CC-CD81-D627029B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982C4-55D2-3E0C-5B96-84928D9D9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Prints da aplicação</a:t>
            </a:r>
          </a:p>
        </p:txBody>
      </p:sp>
    </p:spTree>
    <p:extLst>
      <p:ext uri="{BB962C8B-B14F-4D97-AF65-F5344CB8AC3E}">
        <p14:creationId xmlns:p14="http://schemas.microsoft.com/office/powerpoint/2010/main" val="5425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02DDA-7C1A-ED19-59BD-18155444F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Descrição gerada automaticamente">
            <a:extLst>
              <a:ext uri="{FF2B5EF4-FFF2-40B4-BE49-F238E27FC236}">
                <a16:creationId xmlns:a16="http://schemas.microsoft.com/office/drawing/2014/main" id="{C0CBFFE0-07CE-98E5-DC5B-7469921C76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729" y="409153"/>
            <a:ext cx="10688542" cy="603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96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E8ED8-D716-89F0-77E7-605658D18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exto&#10;&#10;Descrição gerada automaticamente">
            <a:extLst>
              <a:ext uri="{FF2B5EF4-FFF2-40B4-BE49-F238E27FC236}">
                <a16:creationId xmlns:a16="http://schemas.microsoft.com/office/drawing/2014/main" id="{D8655985-0C89-A4A7-0C5C-5CC1D63C3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1171"/>
            <a:ext cx="12192000" cy="655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04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CBC27-D8BF-4E5A-EDC6-3AC27EC10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&#10;&#10;Descrição gerada automaticamente">
            <a:extLst>
              <a:ext uri="{FF2B5EF4-FFF2-40B4-BE49-F238E27FC236}">
                <a16:creationId xmlns:a16="http://schemas.microsoft.com/office/drawing/2014/main" id="{03746487-B092-28CF-FA06-BB4F80EB4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1" y="0"/>
            <a:ext cx="11750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14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469ED-7D33-C63E-42E0-F1F259594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Site&#10;&#10;Descrição gerada automaticamente">
            <a:extLst>
              <a:ext uri="{FF2B5EF4-FFF2-40B4-BE49-F238E27FC236}">
                <a16:creationId xmlns:a16="http://schemas.microsoft.com/office/drawing/2014/main" id="{16D96972-589B-BD8F-8393-BA52BF371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76" y="0"/>
            <a:ext cx="116968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18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A659A-FF5B-5E17-B4B9-1F78249EC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:a16="http://schemas.microsoft.com/office/drawing/2014/main" id="{7EF817E7-F535-6945-86FF-4273CF0C8C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91" y="0"/>
            <a:ext cx="117502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84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CFB87-0A55-1126-C6BA-CEB051DB6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Tabela&#10;&#10;Descrição gerada automaticamente com confiança média">
            <a:extLst>
              <a:ext uri="{FF2B5EF4-FFF2-40B4-BE49-F238E27FC236}">
                <a16:creationId xmlns:a16="http://schemas.microsoft.com/office/drawing/2014/main" id="{B93AD832-1EE2-4126-550F-1CDBEAC68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38" y="0"/>
            <a:ext cx="117413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0427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A09F7-D01E-97C0-FF1A-06C6C984D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Uma imagem contendo Interface gráfica do usuário&#10;&#10;Descrição gerada automaticamente">
            <a:extLst>
              <a:ext uri="{FF2B5EF4-FFF2-40B4-BE49-F238E27FC236}">
                <a16:creationId xmlns:a16="http://schemas.microsoft.com/office/drawing/2014/main" id="{B9E2E45B-4AF3-63AE-1F74-532275928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23" y="0"/>
            <a:ext cx="11687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18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7AA40-37A8-A138-8AC2-21C1DF49E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Interface gráfica do usuário&#10;&#10;Descrição gerada automaticamente com confiança média">
            <a:extLst>
              <a:ext uri="{FF2B5EF4-FFF2-40B4-BE49-F238E27FC236}">
                <a16:creationId xmlns:a16="http://schemas.microsoft.com/office/drawing/2014/main" id="{4836CA10-D2B5-0EFF-3F6F-B7502D80D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36" y="0"/>
            <a:ext cx="117693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8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B8A4D-040E-DB29-2781-E266628C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35C31-3E4E-6EAF-5361-17D8BFF1A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E o dashboard?</a:t>
            </a:r>
          </a:p>
        </p:txBody>
      </p:sp>
    </p:spTree>
    <p:extLst>
      <p:ext uri="{BB962C8B-B14F-4D97-AF65-F5344CB8AC3E}">
        <p14:creationId xmlns:p14="http://schemas.microsoft.com/office/powerpoint/2010/main" val="2106137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2C49D-ED9C-F9FC-9A9E-E7509E4EC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8813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F6372-B08D-4B05-1EB3-8269BB416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8BE9F-FF23-4BF0-C8B0-D479F8044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 dirty="0"/>
              <a:t>Conclusão</a:t>
            </a:r>
            <a:endParaRPr lang="pt-BR" b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AA03BA-8DDA-E14E-78B9-244B3B782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marL="0" indent="0">
              <a:buNone/>
            </a:pPr>
            <a:r>
              <a:rPr lang="pt-BR" dirty="0"/>
              <a:t>O dashboard proposto é um primeiro passo para a transformação energética da Justweb. Com funcionalidades avançadas, ele permite: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Identificar e reduzir desperdícios energéticos.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Integrar práticas sustentáveis na operação diária.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dirty="0"/>
              <a:t>Sustentar o crescimento da empresa com foco em eficiência e sustentabilidade.</a:t>
            </a:r>
          </a:p>
          <a:p>
            <a:pPr marL="0" indent="0">
              <a:buNone/>
            </a:pPr>
            <a:r>
              <a:rPr lang="pt-BR" dirty="0"/>
              <a:t>Com a continuidade do desenvolvimento e integração de melhorias, este projeto tem o potencial de se tornar uma referência no setor de telecomunicações para soluções de eficiência energética.</a:t>
            </a:r>
          </a:p>
        </p:txBody>
      </p:sp>
    </p:spTree>
    <p:extLst>
      <p:ext uri="{BB962C8B-B14F-4D97-AF65-F5344CB8AC3E}">
        <p14:creationId xmlns:p14="http://schemas.microsoft.com/office/powerpoint/2010/main" val="625905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rade de Diamante 16:9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517_TF03031015.potx" id="{77D3BC2D-D713-489A-9D26-88797065ABE8}" vid="{BA0F8EFF-EAFB-4EE1-B40D-8468E72F0BB1}"/>
    </a:ext>
  </a:extLst>
</a:theme>
</file>

<file path=ppt/theme/theme2.xml><?xml version="1.0" encoding="utf-8"?>
<a:theme xmlns:a="http://schemas.openxmlformats.org/drawingml/2006/main" name="Tema do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DiamondGrid">
      <a:dk1>
        <a:srgbClr val="2D2E2D"/>
      </a:dk1>
      <a:lt1>
        <a:sysClr val="window" lastClr="FFFFFF"/>
      </a:lt1>
      <a:dk2>
        <a:srgbClr val="000000"/>
      </a:dk2>
      <a:lt2>
        <a:srgbClr val="EAEAEA"/>
      </a:lt2>
      <a:accent1>
        <a:srgbClr val="D15A3E"/>
      </a:accent1>
      <a:accent2>
        <a:srgbClr val="B2B2B2"/>
      </a:accent2>
      <a:accent3>
        <a:srgbClr val="4F91A1"/>
      </a:accent3>
      <a:accent4>
        <a:srgbClr val="F0BA34"/>
      </a:accent4>
      <a:accent5>
        <a:srgbClr val="AEB733"/>
      </a:accent5>
      <a:accent6>
        <a:srgbClr val="926397"/>
      </a:accent6>
      <a:hlink>
        <a:srgbClr val="4F91A1"/>
      </a:hlink>
      <a:folHlink>
        <a:srgbClr val="808080"/>
      </a:folHlink>
    </a:clrScheme>
    <a:fontScheme name="Arial">
      <a:maj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shade val="0"/>
              </a:schemeClr>
            </a:gs>
            <a:gs pos="0">
              <a:scrgbClr r="0" g="0" b="0"/>
            </a:gs>
            <a:gs pos="100000">
              <a:schemeClr val="phClr">
                <a:shade val="100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Apresentação da grade de diamante empresarial (widescreen)</Template>
  <TotalTime>1490</TotalTime>
  <Words>1031</Words>
  <Application>Microsoft Office PowerPoint</Application>
  <PresentationFormat>Widescreen</PresentationFormat>
  <Paragraphs>127</Paragraphs>
  <Slides>44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44</vt:i4>
      </vt:variant>
    </vt:vector>
  </HeadingPairs>
  <TitlesOfParts>
    <vt:vector size="46" baseType="lpstr">
      <vt:lpstr>Arial</vt:lpstr>
      <vt:lpstr>Grade de Diamante 16:9</vt:lpstr>
      <vt:lpstr>TI-AS - GreenEdge Analytics</vt:lpstr>
      <vt:lpstr>- Alexandre França Quirino dos Santos - Davi Jorge Leite Santos - Heitor Meinicke Ribeiro - Samuel Rodrigues Cardilo Van Petten - Samuel Vitor Cardoso Santos</vt:lpstr>
      <vt:lpstr>Apresentação do PowerPoint</vt:lpstr>
      <vt:lpstr>Apresentação</vt:lpstr>
      <vt:lpstr>Problema</vt:lpstr>
      <vt:lpstr>Objetivos do Trabalho</vt:lpstr>
      <vt:lpstr>Objetivo Geral</vt:lpstr>
      <vt:lpstr>Objetivos Específicos</vt:lpstr>
      <vt:lpstr>Definições e Abreviaturas</vt:lpstr>
      <vt:lpstr>Requisitos do Sistema</vt:lpstr>
      <vt:lpstr>Modelagem e Arquitetura</vt:lpstr>
      <vt:lpstr>Nível 1: Contexto</vt:lpstr>
      <vt:lpstr>Apresentação do PowerPoint</vt:lpstr>
      <vt:lpstr>Nível 2: Contêiner</vt:lpstr>
      <vt:lpstr>Apresentação do PowerPoint</vt:lpstr>
      <vt:lpstr>Apresentação do PowerPoint</vt:lpstr>
      <vt:lpstr>Nível 3: Componentes</vt:lpstr>
      <vt:lpstr>Apresentação do PowerPoint</vt:lpstr>
      <vt:lpstr>Nível 4: Diagrama de Classe</vt:lpstr>
      <vt:lpstr>Apresentação do PowerPoint</vt:lpstr>
      <vt:lpstr>Apresentação do PowerPoint</vt:lpstr>
      <vt:lpstr>Diagrama extra</vt:lpstr>
      <vt:lpstr>Apresentação do PowerPoint</vt:lpstr>
      <vt:lpstr>Resultados Esperados</vt:lpstr>
      <vt:lpstr>Principais Entregas</vt:lpstr>
      <vt:lpstr>Benefícios</vt:lpstr>
      <vt:lpstr>Feedback do Cliente</vt:lpstr>
      <vt:lpstr>Apresentação do PowerPoint</vt:lpstr>
      <vt:lpstr>Apresentação do PowerPoint</vt:lpstr>
      <vt:lpstr>Apresentação do PowerPoint</vt:lpstr>
      <vt:lpstr>Apresentação do PowerPoint</vt:lpstr>
      <vt:lpstr>Aplicação Distribuída</vt:lpstr>
      <vt:lpstr>Prints da aplicação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 o dashboard?</vt:lpstr>
      <vt:lpstr>Apresentação do PowerPoint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 Jorge</dc:creator>
  <cp:lastModifiedBy>Davi Jorge</cp:lastModifiedBy>
  <cp:revision>2</cp:revision>
  <dcterms:created xsi:type="dcterms:W3CDTF">2024-12-07T22:04:28Z</dcterms:created>
  <dcterms:modified xsi:type="dcterms:W3CDTF">2024-12-08T22:56:31Z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