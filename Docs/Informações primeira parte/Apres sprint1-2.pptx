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1" r:id="rId9"/>
    <p:sldId id="262" r:id="rId10"/>
    <p:sldId id="265" r:id="rId11"/>
    <p:sldId id="268" r:id="rId12"/>
    <p:sldId id="263" r:id="rId13"/>
    <p:sldId id="264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88765-47A9-D552-8721-BA68666B8591}" v="2" dt="2024-09-02T20:13:53.880"/>
    <p1510:client id="{B2C80DD4-A5CC-5CC8-9A42-189816BBD386}" v="208" dt="2024-09-01T22:05:06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321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98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07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0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9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43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5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98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917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71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18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80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C1388-2B9F-4EAF-9C58-80607277DFFB}" type="datetimeFigureOut">
              <a:rPr lang="pt-BR" smtClean="0"/>
              <a:t>02/09/2024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E4F78-A79F-4783-AD30-0894857C91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5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ijls9/TI-AS--GreenEdge_Analytic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gbc.org/leed" TargetMode="External"/><Relationship Id="rId3" Type="http://schemas.openxmlformats.org/officeDocument/2006/relationships/hyperlink" Target="https://www.ashrae.org" TargetMode="External"/><Relationship Id="rId7" Type="http://schemas.openxmlformats.org/officeDocument/2006/relationships/hyperlink" Target="https://www.iso.org" TargetMode="External"/><Relationship Id="rId12" Type="http://schemas.openxmlformats.org/officeDocument/2006/relationships/hyperlink" Target="https://www.amazon.com" TargetMode="External"/><Relationship Id="rId2" Type="http://schemas.openxmlformats.org/officeDocument/2006/relationships/hyperlink" Target="https://www.thegreengrid.or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" TargetMode="External"/><Relationship Id="rId11" Type="http://schemas.openxmlformats.org/officeDocument/2006/relationships/hyperlink" Target="https://www.gartner.com" TargetMode="External"/><Relationship Id="rId5" Type="http://schemas.openxmlformats.org/officeDocument/2006/relationships/hyperlink" Target="https://www.cibse.org" TargetMode="External"/><Relationship Id="rId10" Type="http://schemas.openxmlformats.org/officeDocument/2006/relationships/hyperlink" Target="https://uptimeinstitute.com" TargetMode="External"/><Relationship Id="rId4" Type="http://schemas.openxmlformats.org/officeDocument/2006/relationships/hyperlink" Target="https://www.epa.gov/datacenters" TargetMode="External"/><Relationship Id="rId9" Type="http://schemas.openxmlformats.org/officeDocument/2006/relationships/hyperlink" Target="https://www.nist.gov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PUC Minas – São Gabriel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Sistemas de Informação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TI: Aplicações para Sustentabilidade</a:t>
            </a:r>
            <a:b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 S1 – 02/08/2024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694316"/>
            <a:ext cx="5179868" cy="54826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GreenEdge_Analytics</a:t>
            </a:r>
            <a:endParaRPr lang="en-US" dirty="0" err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Davi Jorge Leite Santos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Alexandre França Quirino dos Santos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Heitor </a:t>
            </a:r>
            <a:r>
              <a:rPr lang="en-US" b="1" dirty="0" err="1">
                <a:solidFill>
                  <a:schemeClr val="tx1"/>
                </a:solidFill>
              </a:rPr>
              <a:t>Meinicke</a:t>
            </a:r>
            <a:r>
              <a:rPr lang="en-US" b="1" dirty="0">
                <a:solidFill>
                  <a:schemeClr val="tx1"/>
                </a:solidFill>
              </a:rPr>
              <a:t> Ribeiro</a:t>
            </a:r>
            <a:endParaRPr lang="en-US" dirty="0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Samuel Rodrigues </a:t>
            </a:r>
            <a:r>
              <a:rPr lang="en-US" b="1" dirty="0" err="1">
                <a:solidFill>
                  <a:schemeClr val="tx1"/>
                </a:solidFill>
              </a:rPr>
              <a:t>Cardilo</a:t>
            </a:r>
            <a:r>
              <a:rPr lang="en-US" b="1" dirty="0">
                <a:solidFill>
                  <a:schemeClr val="tx1"/>
                </a:solidFill>
              </a:rPr>
              <a:t> Van Petten</a:t>
            </a:r>
            <a:endParaRPr lang="en-US" dirty="0">
              <a:solidFill>
                <a:schemeClr val="tx1"/>
              </a:solidFill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Samuel Vitor Cardoso Santos</a:t>
            </a: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9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Roteiro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pt-BR" sz="1600" dirty="0"/>
              <a:t>Apresentação</a:t>
            </a: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 dirty="0">
                <a:ea typeface="+mn-lt"/>
                <a:cs typeface="+mn-lt"/>
              </a:rPr>
              <a:t>Cliente</a:t>
            </a:r>
            <a:r>
              <a:rPr lang="pt-BR" sz="1600" dirty="0">
                <a:ea typeface="+mn-lt"/>
                <a:cs typeface="+mn-lt"/>
              </a:rPr>
              <a:t>: </a:t>
            </a:r>
            <a:r>
              <a:rPr lang="pt-BR" sz="1600" err="1">
                <a:ea typeface="+mn-lt"/>
                <a:cs typeface="+mn-lt"/>
              </a:rPr>
              <a:t>Justweb</a:t>
            </a:r>
            <a:r>
              <a:rPr lang="pt-BR" sz="1600" dirty="0">
                <a:ea typeface="+mn-lt"/>
                <a:cs typeface="+mn-lt"/>
              </a:rPr>
              <a:t>, empresa de telecomunicações de Ribeirão das Neves, MG, adquirida pelo grupo Brasil </a:t>
            </a:r>
            <a:r>
              <a:rPr lang="pt-BR" sz="1600" err="1">
                <a:ea typeface="+mn-lt"/>
                <a:cs typeface="+mn-lt"/>
              </a:rPr>
              <a:t>TecPar</a:t>
            </a:r>
            <a:r>
              <a:rPr lang="pt-BR" sz="1600" dirty="0">
                <a:ea typeface="+mn-lt"/>
                <a:cs typeface="+mn-lt"/>
              </a:rPr>
              <a:t> em setembro de 2023.</a:t>
            </a:r>
          </a:p>
          <a:p>
            <a:pPr algn="just">
              <a:lnSpc>
                <a:spcPct val="90000"/>
              </a:lnSpc>
            </a:pP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 dirty="0">
                <a:ea typeface="+mn-lt"/>
                <a:cs typeface="+mn-lt"/>
              </a:rPr>
              <a:t>Problema</a:t>
            </a:r>
            <a:r>
              <a:rPr lang="pt-BR" sz="1600" dirty="0">
                <a:ea typeface="+mn-lt"/>
                <a:cs typeface="+mn-lt"/>
              </a:rPr>
              <a:t>: Ineficiência energética, resultando em altos custos e aumento da pegada de carbono.</a:t>
            </a:r>
          </a:p>
          <a:p>
            <a:pPr algn="just">
              <a:lnSpc>
                <a:spcPct val="90000"/>
              </a:lnSpc>
            </a:pP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 dirty="0">
                <a:ea typeface="+mn-lt"/>
                <a:cs typeface="+mn-lt"/>
              </a:rPr>
              <a:t>Objetivos</a:t>
            </a:r>
            <a:r>
              <a:rPr lang="pt-BR" sz="1600" dirty="0">
                <a:ea typeface="+mn-lt"/>
                <a:cs typeface="+mn-lt"/>
              </a:rPr>
              <a:t>:</a:t>
            </a: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 dirty="0">
                <a:ea typeface="+mn-lt"/>
                <a:cs typeface="+mn-lt"/>
              </a:rPr>
              <a:t>Geral</a:t>
            </a:r>
            <a:r>
              <a:rPr lang="pt-BR" sz="1600" dirty="0">
                <a:ea typeface="+mn-lt"/>
                <a:cs typeface="+mn-lt"/>
              </a:rPr>
              <a:t>: Criar um dashboard de monitoramento energético para melhorar a eficiência energética da empresa.</a:t>
            </a:r>
            <a:endParaRPr lang="pt-BR" sz="1600" dirty="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pt-BR" sz="1600" b="1" dirty="0">
                <a:ea typeface="+mn-lt"/>
                <a:cs typeface="+mn-lt"/>
              </a:rPr>
              <a:t>Específicos</a:t>
            </a:r>
            <a:r>
              <a:rPr lang="pt-BR" sz="1600" dirty="0">
                <a:ea typeface="+mn-lt"/>
                <a:cs typeface="+mn-lt"/>
              </a:rPr>
              <a:t>:</a:t>
            </a:r>
            <a:endParaRPr lang="pt-BR" sz="1600" dirty="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 dirty="0">
                <a:ea typeface="+mn-lt"/>
                <a:cs typeface="+mn-lt"/>
              </a:rPr>
              <a:t>Monitorar a eficácia do uso da energia (PUE).</a:t>
            </a:r>
            <a:endParaRPr lang="pt-BR" sz="1600" dirty="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 dirty="0">
                <a:ea typeface="+mn-lt"/>
                <a:cs typeface="+mn-lt"/>
              </a:rPr>
              <a:t>Gerar relatórios detalhados de eficiência energética.</a:t>
            </a:r>
            <a:endParaRPr lang="pt-BR" sz="1600" dirty="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 dirty="0">
                <a:ea typeface="+mn-lt"/>
                <a:cs typeface="+mn-lt"/>
              </a:rPr>
              <a:t>Analisar o desempenho energético e identificar ineficiências.</a:t>
            </a:r>
            <a:endParaRPr lang="pt-BR" sz="1600" dirty="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r>
              <a:rPr lang="pt-BR" sz="1600" dirty="0">
                <a:ea typeface="+mn-lt"/>
                <a:cs typeface="+mn-lt"/>
              </a:rPr>
              <a:t>Desenvolver dashboards interativos e intuitivos.</a:t>
            </a:r>
            <a:endParaRPr lang="pt-BR" sz="1600" dirty="0">
              <a:ea typeface="Calibri"/>
              <a:cs typeface="Calibri"/>
            </a:endParaRPr>
          </a:p>
          <a:p>
            <a:pPr lvl="1" algn="just">
              <a:lnSpc>
                <a:spcPct val="90000"/>
              </a:lnSpc>
            </a:pPr>
            <a:endParaRPr lang="pt-BR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pt-BR" sz="16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pt-BR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204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A22F-2C1C-1BE2-A85B-2AF08CED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700" b="1" err="1">
                <a:ea typeface="+mn-lt"/>
                <a:cs typeface="+mn-lt"/>
              </a:rPr>
              <a:t>Definições</a:t>
            </a:r>
            <a:r>
              <a:rPr lang="en-US" sz="2700" b="1">
                <a:ea typeface="+mn-lt"/>
                <a:cs typeface="+mn-lt"/>
              </a:rPr>
              <a:t> e </a:t>
            </a:r>
            <a:r>
              <a:rPr lang="en-US" sz="2700" b="1" err="1">
                <a:ea typeface="+mn-lt"/>
                <a:cs typeface="+mn-lt"/>
              </a:rPr>
              <a:t>Abreviaturas</a:t>
            </a:r>
            <a:r>
              <a:rPr lang="en-US" sz="2700">
                <a:ea typeface="+mn-lt"/>
                <a:cs typeface="+mn-lt"/>
              </a:rPr>
              <a:t>: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PUE</a:t>
            </a:r>
            <a:r>
              <a:rPr lang="en-US" sz="2700">
                <a:ea typeface="+mn-lt"/>
                <a:cs typeface="+mn-lt"/>
              </a:rPr>
              <a:t>: Power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MTBF</a:t>
            </a:r>
            <a:r>
              <a:rPr lang="en-US" sz="2700">
                <a:ea typeface="+mn-lt"/>
                <a:cs typeface="+mn-lt"/>
              </a:rPr>
              <a:t>: Mean Time Between Failures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WUE</a:t>
            </a:r>
            <a:r>
              <a:rPr lang="en-US" sz="2700">
                <a:ea typeface="+mn-lt"/>
                <a:cs typeface="+mn-lt"/>
              </a:rPr>
              <a:t>: Water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CUE</a:t>
            </a:r>
            <a:r>
              <a:rPr lang="en-US" sz="2700">
                <a:ea typeface="+mn-lt"/>
                <a:cs typeface="+mn-lt"/>
              </a:rPr>
              <a:t>: Carbon Usage Effectiveness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ISP</a:t>
            </a:r>
            <a:r>
              <a:rPr lang="en-US" sz="2700">
                <a:ea typeface="+mn-lt"/>
                <a:cs typeface="+mn-lt"/>
              </a:rPr>
              <a:t>: Internet Service Provider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</a:pPr>
            <a:r>
              <a:rPr lang="en-US" sz="2700" b="1">
                <a:ea typeface="+mn-lt"/>
                <a:cs typeface="+mn-lt"/>
              </a:rPr>
              <a:t>GIT</a:t>
            </a:r>
            <a:r>
              <a:rPr lang="en-US" sz="2700">
                <a:ea typeface="+mn-lt"/>
                <a:cs typeface="+mn-lt"/>
              </a:rPr>
              <a:t>: Ferramenta de </a:t>
            </a:r>
            <a:r>
              <a:rPr lang="en-US" sz="2700" err="1">
                <a:ea typeface="+mn-lt"/>
                <a:cs typeface="+mn-lt"/>
              </a:rPr>
              <a:t>gestão</a:t>
            </a:r>
            <a:r>
              <a:rPr lang="en-US" sz="2700">
                <a:ea typeface="+mn-lt"/>
                <a:cs typeface="+mn-lt"/>
              </a:rPr>
              <a:t> de </a:t>
            </a:r>
            <a:r>
              <a:rPr lang="en-US" sz="2700" err="1">
                <a:ea typeface="+mn-lt"/>
                <a:cs typeface="+mn-lt"/>
              </a:rPr>
              <a:t>projetos</a:t>
            </a:r>
            <a:r>
              <a:rPr lang="en-US" sz="2700" dirty="0">
                <a:ea typeface="+mn-lt"/>
                <a:cs typeface="+mn-lt"/>
              </a:rPr>
              <a:t> </a:t>
            </a:r>
            <a:r>
              <a:rPr lang="en-US" sz="2700" err="1">
                <a:ea typeface="+mn-lt"/>
                <a:cs typeface="+mn-lt"/>
              </a:rPr>
              <a:t>utilizada</a:t>
            </a:r>
            <a:r>
              <a:rPr lang="en-US" sz="2700">
                <a:ea typeface="+mn-lt"/>
                <a:cs typeface="+mn-lt"/>
              </a:rPr>
              <a:t> para </a:t>
            </a:r>
            <a:r>
              <a:rPr lang="en-US" sz="2700" err="1">
                <a:ea typeface="+mn-lt"/>
                <a:cs typeface="+mn-lt"/>
              </a:rPr>
              <a:t>organizar</a:t>
            </a:r>
            <a:r>
              <a:rPr lang="en-US" sz="2700" dirty="0">
                <a:ea typeface="+mn-lt"/>
                <a:cs typeface="+mn-lt"/>
              </a:rPr>
              <a:t> </a:t>
            </a:r>
            <a:r>
              <a:rPr lang="en-US" sz="2700">
                <a:ea typeface="+mn-lt"/>
                <a:cs typeface="+mn-lt"/>
              </a:rPr>
              <a:t>e </a:t>
            </a:r>
            <a:r>
              <a:rPr lang="en-US" sz="2700" err="1">
                <a:ea typeface="+mn-lt"/>
                <a:cs typeface="+mn-lt"/>
              </a:rPr>
              <a:t>acompanhar</a:t>
            </a:r>
            <a:r>
              <a:rPr lang="en-US" sz="2700">
                <a:ea typeface="+mn-lt"/>
                <a:cs typeface="+mn-lt"/>
              </a:rPr>
              <a:t> o </a:t>
            </a:r>
            <a:r>
              <a:rPr lang="en-US" sz="2700" err="1">
                <a:ea typeface="+mn-lt"/>
                <a:cs typeface="+mn-lt"/>
              </a:rPr>
              <a:t>progresso</a:t>
            </a:r>
            <a:r>
              <a:rPr lang="en-US" sz="2700">
                <a:ea typeface="+mn-lt"/>
                <a:cs typeface="+mn-lt"/>
              </a:rPr>
              <a:t> do </a:t>
            </a:r>
            <a:r>
              <a:rPr lang="en-US" sz="2700" err="1">
                <a:ea typeface="+mn-lt"/>
                <a:cs typeface="+mn-lt"/>
              </a:rPr>
              <a:t>projeto</a:t>
            </a:r>
            <a:r>
              <a:rPr lang="en-US" sz="2700">
                <a:ea typeface="+mn-lt"/>
                <a:cs typeface="+mn-lt"/>
              </a:rPr>
              <a:t>.</a:t>
            </a:r>
            <a:endParaRPr lang="en-US" sz="27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784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72E15A-E4ED-3FE5-6374-58AC4C7D8C81}"/>
              </a:ext>
            </a:extLst>
          </p:cNvPr>
          <p:cNvSpPr txBox="1">
            <a:spLocks/>
          </p:cNvSpPr>
          <p:nvPr/>
        </p:nvSpPr>
        <p:spPr>
          <a:xfrm>
            <a:off x="261" y="1153572"/>
            <a:ext cx="296665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</a:t>
            </a:r>
            <a:endParaRPr lang="en-US" sz="3600" kern="120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lnSpc>
                <a:spcPct val="90000"/>
              </a:lnSpc>
            </a:pPr>
            <a:r>
              <a:rPr lang="en-US" sz="3000"/>
              <a:t>Este </a:t>
            </a:r>
            <a:r>
              <a:rPr lang="en-US" sz="3000" err="1"/>
              <a:t>projeto</a:t>
            </a:r>
            <a:r>
              <a:rPr lang="en-US" sz="3000"/>
              <a:t> visa </a:t>
            </a:r>
            <a:r>
              <a:rPr lang="en-US" sz="3000" err="1"/>
              <a:t>desenvolver</a:t>
            </a:r>
            <a:r>
              <a:rPr lang="en-US" sz="3000"/>
              <a:t> um dashboard para </a:t>
            </a:r>
            <a:r>
              <a:rPr lang="en-US" sz="3000" err="1"/>
              <a:t>monitoramento</a:t>
            </a:r>
            <a:r>
              <a:rPr lang="en-US" sz="3000"/>
              <a:t> </a:t>
            </a:r>
            <a:r>
              <a:rPr lang="en-US" sz="3000" err="1"/>
              <a:t>energético</a:t>
            </a:r>
            <a:r>
              <a:rPr lang="en-US" sz="3000"/>
              <a:t>, </a:t>
            </a:r>
            <a:r>
              <a:rPr lang="en-US" sz="3000" err="1"/>
              <a:t>proporcionando</a:t>
            </a:r>
            <a:r>
              <a:rPr lang="en-US" sz="3000"/>
              <a:t> </a:t>
            </a:r>
            <a:r>
              <a:rPr lang="en-US" sz="3000" err="1"/>
              <a:t>uma</a:t>
            </a:r>
            <a:r>
              <a:rPr lang="en-US" sz="3000"/>
              <a:t> </a:t>
            </a:r>
            <a:r>
              <a:rPr lang="en-US" sz="3000" err="1"/>
              <a:t>visão</a:t>
            </a:r>
            <a:r>
              <a:rPr lang="en-US" sz="3000"/>
              <a:t> </a:t>
            </a:r>
            <a:r>
              <a:rPr lang="en-US" sz="3000" err="1"/>
              <a:t>clara</a:t>
            </a:r>
            <a:r>
              <a:rPr lang="en-US" sz="3000"/>
              <a:t> e </a:t>
            </a:r>
            <a:r>
              <a:rPr lang="en-US" sz="3000" err="1"/>
              <a:t>detalhada</a:t>
            </a:r>
            <a:r>
              <a:rPr lang="en-US" sz="3000"/>
              <a:t> dos dados de </a:t>
            </a:r>
            <a:r>
              <a:rPr lang="en-US" sz="3000" err="1"/>
              <a:t>consumo</a:t>
            </a:r>
            <a:r>
              <a:rPr lang="en-US" sz="3000"/>
              <a:t> de </a:t>
            </a:r>
            <a:r>
              <a:rPr lang="en-US" sz="3000" err="1"/>
              <a:t>energia</a:t>
            </a:r>
            <a:r>
              <a:rPr lang="en-US" sz="3000"/>
              <a:t>. </a:t>
            </a:r>
            <a:r>
              <a:rPr lang="en-US" sz="3000" err="1"/>
              <a:t>Isso</a:t>
            </a:r>
            <a:r>
              <a:rPr lang="en-US" sz="3000"/>
              <a:t> </a:t>
            </a:r>
            <a:r>
              <a:rPr lang="en-US" sz="3000" err="1"/>
              <a:t>permitirá</a:t>
            </a:r>
            <a:r>
              <a:rPr lang="en-US" sz="3000"/>
              <a:t> à </a:t>
            </a:r>
            <a:r>
              <a:rPr lang="en-US" sz="3000" err="1"/>
              <a:t>Justweb</a:t>
            </a:r>
            <a:r>
              <a:rPr lang="en-US" sz="3000"/>
              <a:t> </a:t>
            </a:r>
            <a:r>
              <a:rPr lang="en-US" sz="3000" err="1"/>
              <a:t>identificar</a:t>
            </a:r>
            <a:r>
              <a:rPr lang="en-US" sz="3000"/>
              <a:t> </a:t>
            </a:r>
            <a:r>
              <a:rPr lang="en-US" sz="3000" err="1"/>
              <a:t>ineficiências</a:t>
            </a:r>
            <a:r>
              <a:rPr lang="en-US" sz="3000"/>
              <a:t> e </a:t>
            </a:r>
            <a:r>
              <a:rPr lang="en-US" sz="3000" err="1"/>
              <a:t>tomar</a:t>
            </a:r>
            <a:r>
              <a:rPr lang="en-US" sz="3000"/>
              <a:t> </a:t>
            </a:r>
            <a:r>
              <a:rPr lang="en-US" sz="3000" err="1"/>
              <a:t>decisões</a:t>
            </a:r>
            <a:r>
              <a:rPr lang="en-US" sz="3000"/>
              <a:t> </a:t>
            </a:r>
            <a:r>
              <a:rPr lang="en-US" sz="3000" err="1"/>
              <a:t>informadas</a:t>
            </a:r>
            <a:r>
              <a:rPr lang="en-US" sz="3000"/>
              <a:t>, </a:t>
            </a:r>
            <a:r>
              <a:rPr lang="en-US" sz="3000" err="1"/>
              <a:t>melhorando</a:t>
            </a:r>
            <a:r>
              <a:rPr lang="en-US" sz="3000"/>
              <a:t> a </a:t>
            </a:r>
            <a:r>
              <a:rPr lang="en-US" sz="3000" err="1"/>
              <a:t>eficiência</a:t>
            </a:r>
            <a:r>
              <a:rPr lang="en-US" sz="3000"/>
              <a:t> </a:t>
            </a:r>
            <a:r>
              <a:rPr lang="en-US" sz="3000" err="1"/>
              <a:t>energética</a:t>
            </a:r>
            <a:r>
              <a:rPr lang="en-US" sz="3000"/>
              <a:t> e </a:t>
            </a:r>
            <a:r>
              <a:rPr lang="en-US" sz="3000" err="1"/>
              <a:t>reduzindo</a:t>
            </a:r>
            <a:r>
              <a:rPr lang="en-US" sz="3000"/>
              <a:t> custos e </a:t>
            </a:r>
            <a:r>
              <a:rPr lang="en-US" sz="3000" err="1"/>
              <a:t>pegada</a:t>
            </a:r>
            <a:r>
              <a:rPr lang="en-US" sz="3000"/>
              <a:t> de </a:t>
            </a:r>
            <a:r>
              <a:rPr lang="en-US" sz="3000" err="1"/>
              <a:t>carbono</a:t>
            </a:r>
            <a:r>
              <a:rPr lang="en-US" sz="3000"/>
              <a:t>.</a:t>
            </a:r>
            <a:endParaRPr lang="en-US"/>
          </a:p>
          <a:p>
            <a:pPr marL="0" indent="-228600" algn="just">
              <a:lnSpc>
                <a:spcPct val="90000"/>
              </a:lnSpc>
            </a:pPr>
            <a:endParaRPr lang="en-US" sz="3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85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45718F-32E5-418D-A575-48538127B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  <a:ea typeface="+mj-lt"/>
                <a:cs typeface="+mj-lt"/>
              </a:rPr>
              <a:t>Justweb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FBA23-186F-4C60-8887-3AD7F6CE8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pt-BR" sz="2700" dirty="0">
                <a:ea typeface="+mn-lt"/>
                <a:cs typeface="+mn-lt"/>
              </a:rPr>
              <a:t>A </a:t>
            </a:r>
            <a:r>
              <a:rPr lang="pt-BR" sz="2700" dirty="0" err="1">
                <a:ea typeface="+mn-lt"/>
                <a:cs typeface="+mn-lt"/>
              </a:rPr>
              <a:t>Justweb</a:t>
            </a:r>
            <a:r>
              <a:rPr lang="pt-BR" sz="2700" dirty="0">
                <a:ea typeface="+mn-lt"/>
                <a:cs typeface="+mn-lt"/>
              </a:rPr>
              <a:t> é uma empresa de telecomunicações fundada em 2013, com sede em Ribeirão das Neves, MG. Especializada inicialmente em internet via rádio, a empresa expandiu-se para fibra óptica e hoje atende cerca de 40 mil assinantes na região metropolitana de Belo Horizonte. Adquirida pelo grupo Brasil </a:t>
            </a:r>
            <a:r>
              <a:rPr lang="pt-BR" sz="2700" dirty="0" err="1">
                <a:ea typeface="+mn-lt"/>
                <a:cs typeface="+mn-lt"/>
              </a:rPr>
              <a:t>TecPar</a:t>
            </a:r>
            <a:r>
              <a:rPr lang="pt-BR" sz="2700" dirty="0">
                <a:ea typeface="+mn-lt"/>
                <a:cs typeface="+mn-lt"/>
              </a:rPr>
              <a:t> em 2023, a </a:t>
            </a:r>
            <a:r>
              <a:rPr lang="pt-BR" sz="2700" dirty="0" err="1">
                <a:ea typeface="+mn-lt"/>
                <a:cs typeface="+mn-lt"/>
              </a:rPr>
              <a:t>Justweb</a:t>
            </a:r>
            <a:r>
              <a:rPr lang="pt-BR" sz="2700" dirty="0">
                <a:ea typeface="+mn-lt"/>
                <a:cs typeface="+mn-lt"/>
              </a:rPr>
              <a:t> é reconhecida por sua rede organizada, equipe experiente e atendimento humanizado.</a:t>
            </a:r>
            <a:endParaRPr lang="en-US" sz="2700" dirty="0">
              <a:ea typeface="+mn-lt"/>
              <a:cs typeface="+mn-lt"/>
            </a:endParaRPr>
          </a:p>
          <a:p>
            <a:pPr algn="just">
              <a:lnSpc>
                <a:spcPct val="90000"/>
              </a:lnSpc>
            </a:pPr>
            <a:endParaRPr lang="pt-BR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27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nde plano de uma placa de circuitos iluminada">
            <a:extLst>
              <a:ext uri="{FF2B5EF4-FFF2-40B4-BE49-F238E27FC236}">
                <a16:creationId xmlns:a16="http://schemas.microsoft.com/office/drawing/2014/main" id="{17BA85EC-42D3-8CEF-1676-10D29084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78" r="29057" b="8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pt-BR" sz="3500"/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pt-BR" sz="1700" dirty="0">
                <a:ea typeface="+mn-lt"/>
                <a:cs typeface="+mn-lt"/>
              </a:rPr>
              <a:t>A </a:t>
            </a:r>
            <a:r>
              <a:rPr lang="pt-BR" sz="1700" dirty="0" err="1">
                <a:ea typeface="+mn-lt"/>
                <a:cs typeface="+mn-lt"/>
              </a:rPr>
              <a:t>Justweb</a:t>
            </a:r>
            <a:r>
              <a:rPr lang="pt-BR" sz="1700" dirty="0">
                <a:ea typeface="+mn-lt"/>
                <a:cs typeface="+mn-lt"/>
              </a:rPr>
              <a:t> enfrenta desafios de eficiência energética, o que leva a altos custos operacionais e a um impacto ambiental maior devido à alta pegada de carbono. A principal dificuldade é a falta de visibilidade e controle sobre o consumo energético, impedindo a identificação de áreas de desperdício e dificultando a implementação de medidas corretivas eficazes.</a:t>
            </a:r>
            <a:endParaRPr lang="en-US" sz="17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41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 financeiro digital">
            <a:extLst>
              <a:ext uri="{FF2B5EF4-FFF2-40B4-BE49-F238E27FC236}">
                <a16:creationId xmlns:a16="http://schemas.microsoft.com/office/drawing/2014/main" id="{EFA4271B-4365-2B5B-9B4B-1BECCCC7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526" r="22017" b="-2"/>
          <a:stretch/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pt-BR" sz="3500"/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pt-BR" sz="1700">
                <a:ea typeface="+mn-lt"/>
                <a:cs typeface="+mn-lt"/>
              </a:rPr>
              <a:t>Desenvolver um dashboard de monitoramento energético que permita à </a:t>
            </a:r>
            <a:r>
              <a:rPr lang="pt-BR" sz="1700" err="1">
                <a:ea typeface="+mn-lt"/>
                <a:cs typeface="+mn-lt"/>
              </a:rPr>
              <a:t>Justweb</a:t>
            </a:r>
            <a:r>
              <a:rPr lang="pt-BR" sz="1700">
                <a:ea typeface="+mn-lt"/>
                <a:cs typeface="+mn-lt"/>
              </a:rPr>
              <a:t> melhorar sua eficiência energética, monitorando e analisando o consumo de energia, identificando ineficiências e facilitando a tomada de decisões informadas para otimizar o uso de recursos energéticos.</a:t>
            </a:r>
            <a:endParaRPr lang="en-US" sz="17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852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700">
                <a:solidFill>
                  <a:srgbClr val="FFFFFF"/>
                </a:solidFill>
              </a:rPr>
              <a:t>Objetivos Específicos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700" b="1">
                <a:ea typeface="+mn-lt"/>
                <a:cs typeface="+mn-lt"/>
              </a:rPr>
              <a:t>Objetivo Específico 1</a:t>
            </a:r>
            <a:r>
              <a:rPr lang="pt-BR" sz="2700">
                <a:ea typeface="+mn-lt"/>
                <a:cs typeface="+mn-lt"/>
              </a:rPr>
              <a:t>: Monitorar a eficácia do uso da energia através do Power </a:t>
            </a:r>
            <a:r>
              <a:rPr lang="pt-BR" sz="2700" err="1">
                <a:ea typeface="+mn-lt"/>
                <a:cs typeface="+mn-lt"/>
              </a:rPr>
              <a:t>Usage</a:t>
            </a:r>
            <a:r>
              <a:rPr lang="pt-BR" sz="2700" dirty="0">
                <a:ea typeface="+mn-lt"/>
                <a:cs typeface="+mn-lt"/>
              </a:rPr>
              <a:t> </a:t>
            </a:r>
            <a:r>
              <a:rPr lang="pt-BR" sz="2700" err="1">
                <a:ea typeface="+mn-lt"/>
                <a:cs typeface="+mn-lt"/>
              </a:rPr>
              <a:t>Effectiveness</a:t>
            </a:r>
            <a:r>
              <a:rPr lang="pt-BR" sz="2700">
                <a:ea typeface="+mn-lt"/>
                <a:cs typeface="+mn-lt"/>
              </a:rPr>
              <a:t> (PUE).</a:t>
            </a:r>
            <a:endParaRPr lang="en-US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</a:pPr>
            <a:r>
              <a:rPr lang="pt-BR" sz="2700" b="1">
                <a:ea typeface="+mn-lt"/>
                <a:cs typeface="+mn-lt"/>
              </a:rPr>
              <a:t>Objetivo Específico 2</a:t>
            </a:r>
            <a:r>
              <a:rPr lang="pt-BR" sz="2700">
                <a:ea typeface="+mn-lt"/>
                <a:cs typeface="+mn-lt"/>
              </a:rPr>
              <a:t>: Gerar relatórios detalhados de eficiência energética para análise e decisão estratégica.</a:t>
            </a:r>
            <a:endParaRPr lang="pt-BR" sz="27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</a:pPr>
            <a:r>
              <a:rPr lang="pt-BR" sz="2700" b="1">
                <a:ea typeface="+mn-lt"/>
                <a:cs typeface="+mn-lt"/>
              </a:rPr>
              <a:t>Objetivo Específico 3</a:t>
            </a:r>
            <a:r>
              <a:rPr lang="pt-BR" sz="2700">
                <a:ea typeface="+mn-lt"/>
                <a:cs typeface="+mn-lt"/>
              </a:rPr>
              <a:t>: Analisar o desempenho energético para identificar ineficiências e oportunidades de melhoria.</a:t>
            </a:r>
            <a:endParaRPr lang="pt-BR" sz="2700">
              <a:ea typeface="Calibri"/>
              <a:cs typeface="Calibri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pt-BR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728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100">
                <a:solidFill>
                  <a:srgbClr val="FFFFFF"/>
                </a:solidFill>
              </a:rPr>
              <a:t>Definições e Abreviaturas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PUE (Power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Métrica que determina a eficiência energética de um data center.</a:t>
            </a:r>
            <a:endParaRPr lang="en-US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MTBF (</a:t>
            </a:r>
            <a:r>
              <a:rPr lang="pt-BR" sz="2200" b="1" err="1">
                <a:ea typeface="+mn-lt"/>
                <a:cs typeface="+mn-lt"/>
              </a:rPr>
              <a:t>Mean</a:t>
            </a:r>
            <a:r>
              <a:rPr lang="pt-BR" sz="2200" b="1">
                <a:ea typeface="+mn-lt"/>
                <a:cs typeface="+mn-lt"/>
              </a:rPr>
              <a:t> Time </a:t>
            </a:r>
            <a:r>
              <a:rPr lang="pt-BR" sz="2200" b="1" err="1">
                <a:ea typeface="+mn-lt"/>
                <a:cs typeface="+mn-lt"/>
              </a:rPr>
              <a:t>Between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Failures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Tempo médio entre falhas, usado para medir a confiabilidade do sistema.</a:t>
            </a:r>
            <a:endParaRPr lang="pt-BR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WUE (</a:t>
            </a:r>
            <a:r>
              <a:rPr lang="pt-BR" sz="2200" b="1" err="1">
                <a:ea typeface="+mn-lt"/>
                <a:cs typeface="+mn-lt"/>
              </a:rPr>
              <a:t>Water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Métrica que avalia a eficiência do uso de água em um data center.</a:t>
            </a:r>
            <a:endParaRPr lang="pt-BR" sz="2200">
              <a:ea typeface="Calibri"/>
              <a:cs typeface="Calibri"/>
            </a:endParaRP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CUE (Carbon </a:t>
            </a:r>
            <a:r>
              <a:rPr lang="pt-BR" sz="2200" b="1" err="1">
                <a:ea typeface="+mn-lt"/>
                <a:cs typeface="+mn-lt"/>
              </a:rPr>
              <a:t>Usage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b="1" err="1">
                <a:ea typeface="+mn-lt"/>
                <a:cs typeface="+mn-lt"/>
              </a:rPr>
              <a:t>Effectiveness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Índice que mede a quantidade de carbono emitido em relação à energia consumida por um data center.</a:t>
            </a:r>
          </a:p>
          <a:p>
            <a:pPr algn="just">
              <a:lnSpc>
                <a:spcPct val="90000"/>
              </a:lnSpc>
              <a:buFont typeface="Arial"/>
              <a:buChar char="•"/>
            </a:pPr>
            <a:r>
              <a:rPr lang="pt-BR" sz="2200" b="1">
                <a:ea typeface="+mn-lt"/>
                <a:cs typeface="+mn-lt"/>
              </a:rPr>
              <a:t>ISP (Internet Service </a:t>
            </a:r>
            <a:r>
              <a:rPr lang="pt-BR" sz="2200" b="1" err="1">
                <a:ea typeface="+mn-lt"/>
                <a:cs typeface="+mn-lt"/>
              </a:rPr>
              <a:t>Provider</a:t>
            </a:r>
            <a:r>
              <a:rPr lang="pt-BR" sz="2200" b="1">
                <a:ea typeface="+mn-lt"/>
                <a:cs typeface="+mn-lt"/>
              </a:rPr>
              <a:t>)</a:t>
            </a:r>
            <a:r>
              <a:rPr lang="pt-BR" sz="2200">
                <a:ea typeface="+mn-lt"/>
                <a:cs typeface="+mn-lt"/>
              </a:rPr>
              <a:t>: Provedor de Serviços de Internet.</a:t>
            </a:r>
            <a:endParaRPr lang="pt-BR" sz="2200">
              <a:ea typeface="Calibri"/>
              <a:cs typeface="Calibri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pt-BR" sz="2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641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Cronograma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000" b="1" dirty="0">
                <a:ea typeface="+mn-lt"/>
                <a:cs typeface="+mn-lt"/>
              </a:rPr>
              <a:t>02/09</a:t>
            </a:r>
            <a:r>
              <a:rPr lang="pt-BR" sz="3000" dirty="0">
                <a:ea typeface="+mn-lt"/>
                <a:cs typeface="+mn-lt"/>
              </a:rPr>
              <a:t>: Apresentação da proposta do projeto.</a:t>
            </a:r>
            <a:endParaRPr lang="en-US" sz="3000">
              <a:ea typeface="+mn-lt"/>
              <a:cs typeface="+mn-lt"/>
            </a:endParaRPr>
          </a:p>
          <a:p>
            <a:pPr>
              <a:lnSpc>
                <a:spcPct val="90000"/>
              </a:lnSpc>
            </a:pPr>
            <a:r>
              <a:rPr lang="pt-BR" sz="3000" b="1" dirty="0">
                <a:ea typeface="+mn-lt"/>
                <a:cs typeface="+mn-lt"/>
              </a:rPr>
              <a:t>23/09</a:t>
            </a:r>
            <a:r>
              <a:rPr lang="pt-BR" sz="3000" dirty="0">
                <a:ea typeface="+mn-lt"/>
                <a:cs typeface="+mn-lt"/>
              </a:rPr>
              <a:t>: Apresentação dos requisitos.</a:t>
            </a:r>
            <a:endParaRPr lang="pt-BR" sz="3000"/>
          </a:p>
          <a:p>
            <a:pPr>
              <a:lnSpc>
                <a:spcPct val="90000"/>
              </a:lnSpc>
            </a:pPr>
            <a:r>
              <a:rPr lang="pt-BR" sz="3000" b="1" dirty="0">
                <a:ea typeface="+mn-lt"/>
                <a:cs typeface="+mn-lt"/>
              </a:rPr>
              <a:t>18/11</a:t>
            </a:r>
            <a:r>
              <a:rPr lang="pt-BR" sz="3000" dirty="0">
                <a:ea typeface="+mn-lt"/>
                <a:cs typeface="+mn-lt"/>
              </a:rPr>
              <a:t>: Apresentação da Implementação Parte 1.</a:t>
            </a:r>
            <a:endParaRPr lang="pt-BR" sz="3000"/>
          </a:p>
          <a:p>
            <a:pPr>
              <a:lnSpc>
                <a:spcPct val="90000"/>
              </a:lnSpc>
            </a:pPr>
            <a:r>
              <a:rPr lang="pt-BR" sz="3000" b="1" dirty="0">
                <a:ea typeface="+mn-lt"/>
                <a:cs typeface="+mn-lt"/>
              </a:rPr>
              <a:t>16/12</a:t>
            </a:r>
            <a:r>
              <a:rPr lang="pt-BR" sz="3000" dirty="0">
                <a:ea typeface="+mn-lt"/>
                <a:cs typeface="+mn-lt"/>
              </a:rPr>
              <a:t>: Apresentação final do projeto.</a:t>
            </a:r>
            <a:endParaRPr lang="pt-BR" sz="3000"/>
          </a:p>
          <a:p>
            <a:pPr marL="0" indent="0">
              <a:lnSpc>
                <a:spcPct val="90000"/>
              </a:lnSpc>
              <a:buNone/>
            </a:pPr>
            <a:r>
              <a:rPr lang="pt-BR" sz="3000" dirty="0">
                <a:ea typeface="Calibri"/>
                <a:cs typeface="Calibri"/>
              </a:rPr>
              <a:t>GIT :</a:t>
            </a:r>
            <a:r>
              <a:rPr lang="pt-BR" sz="3000" dirty="0">
                <a:ea typeface="Calibri"/>
                <a:cs typeface="Calibri"/>
                <a:hlinkClick r:id="rId2"/>
              </a:rPr>
              <a:t>davijls9</a:t>
            </a:r>
            <a:r>
              <a:rPr lang="pt-BR" sz="3000" dirty="0">
                <a:ea typeface="+mn-lt"/>
                <a:cs typeface="+mn-lt"/>
                <a:hlinkClick r:id="rId2"/>
              </a:rPr>
              <a:t>/TI-AS--GreenEdge_Analytics (github.com)</a:t>
            </a:r>
          </a:p>
        </p:txBody>
      </p:sp>
    </p:spTree>
    <p:extLst>
      <p:ext uri="{BB962C8B-B14F-4D97-AF65-F5344CB8AC3E}">
        <p14:creationId xmlns:p14="http://schemas.microsoft.com/office/powerpoint/2010/main" val="4167442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process&#10;&#10;Description automatically generated">
            <a:extLst>
              <a:ext uri="{FF2B5EF4-FFF2-40B4-BE49-F238E27FC236}">
                <a16:creationId xmlns:a16="http://schemas.microsoft.com/office/drawing/2014/main" id="{03132D23-539D-8D0D-E333-5F9011953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95068"/>
            <a:ext cx="8229600" cy="4273585"/>
          </a:xfrm>
        </p:spPr>
      </p:pic>
    </p:spTree>
    <p:extLst>
      <p:ext uri="{BB962C8B-B14F-4D97-AF65-F5344CB8AC3E}">
        <p14:creationId xmlns:p14="http://schemas.microsoft.com/office/powerpoint/2010/main" val="342236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Referências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The Green Grid. Green Grid </a:t>
            </a:r>
            <a:r>
              <a:rPr lang="pt-BR" sz="800" err="1">
                <a:ea typeface="+mn-lt"/>
                <a:cs typeface="+mn-lt"/>
              </a:rPr>
              <a:t>Metrics</a:t>
            </a:r>
            <a:r>
              <a:rPr lang="pt-BR" sz="800">
                <a:ea typeface="+mn-lt"/>
                <a:cs typeface="+mn-lt"/>
              </a:rPr>
              <a:t>: </a:t>
            </a:r>
            <a:r>
              <a:rPr lang="pt-BR" sz="800" err="1">
                <a:ea typeface="+mn-lt"/>
                <a:cs typeface="+mn-lt"/>
              </a:rPr>
              <a:t>Describing</a:t>
            </a:r>
            <a:r>
              <a:rPr lang="pt-BR" sz="800">
                <a:ea typeface="+mn-lt"/>
                <a:cs typeface="+mn-lt"/>
              </a:rPr>
              <a:t> Data Center Power </a:t>
            </a:r>
            <a:r>
              <a:rPr lang="pt-BR" sz="800" err="1">
                <a:ea typeface="+mn-lt"/>
                <a:cs typeface="+mn-lt"/>
              </a:rPr>
              <a:t>Efficiency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2"/>
              </a:rPr>
              <a:t>https://www.thegreengrid.org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en-US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ASHRAE. </a:t>
            </a:r>
            <a:r>
              <a:rPr lang="pt-BR" sz="800" err="1">
                <a:ea typeface="+mn-lt"/>
                <a:cs typeface="+mn-lt"/>
              </a:rPr>
              <a:t>Thermal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Guidelines</a:t>
            </a:r>
            <a:r>
              <a:rPr lang="pt-BR" sz="800">
                <a:ea typeface="+mn-lt"/>
                <a:cs typeface="+mn-lt"/>
              </a:rPr>
              <a:t> for Data </a:t>
            </a:r>
            <a:r>
              <a:rPr lang="pt-BR" sz="800" err="1">
                <a:ea typeface="+mn-lt"/>
                <a:cs typeface="+mn-lt"/>
              </a:rPr>
              <a:t>Processing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Environments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3"/>
              </a:rPr>
              <a:t>https://www.ashrae.org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EPA. Energy Star for Data Centers. Disponível em: </a:t>
            </a:r>
            <a:r>
              <a:rPr lang="pt-BR" sz="800">
                <a:ea typeface="+mn-lt"/>
                <a:cs typeface="+mn-lt"/>
                <a:hlinkClick r:id="rId4"/>
              </a:rPr>
              <a:t>https://www.epa.gov/datacenters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ASHRAE. </a:t>
            </a:r>
            <a:r>
              <a:rPr lang="pt-BR" sz="800" err="1">
                <a:ea typeface="+mn-lt"/>
                <a:cs typeface="+mn-lt"/>
              </a:rPr>
              <a:t>ASHRAE’s</a:t>
            </a:r>
            <a:r>
              <a:rPr lang="pt-BR" sz="800">
                <a:ea typeface="+mn-lt"/>
                <a:cs typeface="+mn-lt"/>
              </a:rPr>
              <a:t> Handbook </a:t>
            </a:r>
            <a:r>
              <a:rPr lang="pt-BR" sz="800" err="1">
                <a:ea typeface="+mn-lt"/>
                <a:cs typeface="+mn-lt"/>
              </a:rPr>
              <a:t>on</a:t>
            </a:r>
            <a:r>
              <a:rPr lang="pt-BR" sz="800">
                <a:ea typeface="+mn-lt"/>
                <a:cs typeface="+mn-lt"/>
              </a:rPr>
              <a:t> HVAC </a:t>
            </a:r>
            <a:r>
              <a:rPr lang="pt-BR" sz="800" err="1">
                <a:ea typeface="+mn-lt"/>
                <a:cs typeface="+mn-lt"/>
              </a:rPr>
              <a:t>Applications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3"/>
              </a:rPr>
              <a:t>https://www.ashrae.org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CIBSE. CIBSE </a:t>
            </a:r>
            <a:r>
              <a:rPr lang="pt-BR" sz="800" err="1">
                <a:ea typeface="+mn-lt"/>
                <a:cs typeface="+mn-lt"/>
              </a:rPr>
              <a:t>Guide</a:t>
            </a:r>
            <a:r>
              <a:rPr lang="pt-BR" sz="800">
                <a:ea typeface="+mn-lt"/>
                <a:cs typeface="+mn-lt"/>
              </a:rPr>
              <a:t> B: </a:t>
            </a:r>
            <a:r>
              <a:rPr lang="pt-BR" sz="800" err="1">
                <a:ea typeface="+mn-lt"/>
                <a:cs typeface="+mn-lt"/>
              </a:rPr>
              <a:t>Heating</a:t>
            </a:r>
            <a:r>
              <a:rPr lang="pt-BR" sz="800">
                <a:ea typeface="+mn-lt"/>
                <a:cs typeface="+mn-lt"/>
              </a:rPr>
              <a:t>, </a:t>
            </a:r>
            <a:r>
              <a:rPr lang="pt-BR" sz="800" err="1">
                <a:ea typeface="+mn-lt"/>
                <a:cs typeface="+mn-lt"/>
              </a:rPr>
              <a:t>Ventilating</a:t>
            </a:r>
            <a:r>
              <a:rPr lang="pt-BR" sz="800">
                <a:ea typeface="+mn-lt"/>
                <a:cs typeface="+mn-lt"/>
              </a:rPr>
              <a:t>, Air </a:t>
            </a:r>
            <a:r>
              <a:rPr lang="pt-BR" sz="800" err="1">
                <a:ea typeface="+mn-lt"/>
                <a:cs typeface="+mn-lt"/>
              </a:rPr>
              <a:t>Conditioning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Refrigeration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5"/>
              </a:rPr>
              <a:t>https://www.cibse.org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IEEE. IEEE Standard 500: </a:t>
            </a:r>
            <a:r>
              <a:rPr lang="pt-BR" sz="800" err="1">
                <a:ea typeface="+mn-lt"/>
                <a:cs typeface="+mn-lt"/>
              </a:rPr>
              <a:t>Reliability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of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Electronic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Equipment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6"/>
              </a:rPr>
              <a:t>https://ieeexplore.ieee.org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ISO. ISO 20815: </a:t>
            </a:r>
            <a:r>
              <a:rPr lang="pt-BR" sz="800" err="1">
                <a:ea typeface="+mn-lt"/>
                <a:cs typeface="+mn-lt"/>
              </a:rPr>
              <a:t>Reliability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maintenance</a:t>
            </a:r>
            <a:r>
              <a:rPr lang="pt-BR" sz="800">
                <a:ea typeface="+mn-lt"/>
                <a:cs typeface="+mn-lt"/>
              </a:rPr>
              <a:t> data </a:t>
            </a:r>
            <a:r>
              <a:rPr lang="pt-BR" sz="800" err="1">
                <a:ea typeface="+mn-lt"/>
                <a:cs typeface="+mn-lt"/>
              </a:rPr>
              <a:t>collection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and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analysis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7"/>
              </a:rPr>
              <a:t>https://www.iso.org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LEED. LEED v4 for Data Centers. Disponível em: </a:t>
            </a:r>
            <a:r>
              <a:rPr lang="pt-BR" sz="800">
                <a:ea typeface="+mn-lt"/>
                <a:cs typeface="+mn-lt"/>
                <a:hlinkClick r:id="rId8"/>
              </a:rPr>
              <a:t>https://www.usgbc.org/leed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The Green Grid. </a:t>
            </a:r>
            <a:r>
              <a:rPr lang="pt-BR" sz="800" err="1">
                <a:ea typeface="+mn-lt"/>
                <a:cs typeface="+mn-lt"/>
              </a:rPr>
              <a:t>Water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Usage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Effectiveness</a:t>
            </a:r>
            <a:r>
              <a:rPr lang="pt-BR" sz="800">
                <a:ea typeface="+mn-lt"/>
                <a:cs typeface="+mn-lt"/>
              </a:rPr>
              <a:t> (WUE): A Green Grid Data Center Sustainability </a:t>
            </a:r>
            <a:r>
              <a:rPr lang="pt-BR" sz="800" err="1">
                <a:ea typeface="+mn-lt"/>
                <a:cs typeface="+mn-lt"/>
              </a:rPr>
              <a:t>Metric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2"/>
              </a:rPr>
              <a:t>https://www.thegreengrid.org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NIST. NIST </a:t>
            </a:r>
            <a:r>
              <a:rPr lang="pt-BR" sz="800" err="1">
                <a:ea typeface="+mn-lt"/>
                <a:cs typeface="+mn-lt"/>
              </a:rPr>
              <a:t>Special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Publication</a:t>
            </a:r>
            <a:r>
              <a:rPr lang="pt-BR" sz="800">
                <a:ea typeface="+mn-lt"/>
                <a:cs typeface="+mn-lt"/>
              </a:rPr>
              <a:t> 500-299: US </a:t>
            </a:r>
            <a:r>
              <a:rPr lang="pt-BR" sz="800" err="1">
                <a:ea typeface="+mn-lt"/>
                <a:cs typeface="+mn-lt"/>
              </a:rPr>
              <a:t>Government</a:t>
            </a:r>
            <a:r>
              <a:rPr lang="pt-BR" sz="800">
                <a:ea typeface="+mn-lt"/>
                <a:cs typeface="+mn-lt"/>
              </a:rPr>
              <a:t> Cloud </a:t>
            </a:r>
            <a:r>
              <a:rPr lang="pt-BR" sz="800" err="1">
                <a:ea typeface="+mn-lt"/>
                <a:cs typeface="+mn-lt"/>
              </a:rPr>
              <a:t>Computing</a:t>
            </a:r>
            <a:r>
              <a:rPr lang="pt-BR" sz="800">
                <a:ea typeface="+mn-lt"/>
                <a:cs typeface="+mn-lt"/>
              </a:rPr>
              <a:t> Technology </a:t>
            </a:r>
            <a:r>
              <a:rPr lang="pt-BR" sz="800" err="1">
                <a:ea typeface="+mn-lt"/>
                <a:cs typeface="+mn-lt"/>
              </a:rPr>
              <a:t>Roadmap</a:t>
            </a:r>
            <a:r>
              <a:rPr lang="pt-BR" sz="800">
                <a:ea typeface="+mn-lt"/>
                <a:cs typeface="+mn-lt"/>
              </a:rPr>
              <a:t> Volume II Release 1.0. Disponível em: </a:t>
            </a:r>
            <a:r>
              <a:rPr lang="pt-BR" sz="800">
                <a:ea typeface="+mn-lt"/>
                <a:cs typeface="+mn-lt"/>
                <a:hlinkClick r:id="rId9"/>
              </a:rPr>
              <a:t>https://www.nist.gov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 err="1">
                <a:ea typeface="+mn-lt"/>
                <a:cs typeface="+mn-lt"/>
              </a:rPr>
              <a:t>Uptime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Institute</a:t>
            </a:r>
            <a:r>
              <a:rPr lang="pt-BR" sz="800">
                <a:ea typeface="+mn-lt"/>
                <a:cs typeface="+mn-lt"/>
              </a:rPr>
              <a:t>. </a:t>
            </a:r>
            <a:r>
              <a:rPr lang="pt-BR" sz="800" err="1">
                <a:ea typeface="+mn-lt"/>
                <a:cs typeface="+mn-lt"/>
              </a:rPr>
              <a:t>Uptime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Institute’s</a:t>
            </a:r>
            <a:r>
              <a:rPr lang="pt-BR" sz="800">
                <a:ea typeface="+mn-lt"/>
                <a:cs typeface="+mn-lt"/>
              </a:rPr>
              <a:t> </a:t>
            </a:r>
            <a:r>
              <a:rPr lang="pt-BR" sz="800" err="1">
                <a:ea typeface="+mn-lt"/>
                <a:cs typeface="+mn-lt"/>
              </a:rPr>
              <a:t>Tier</a:t>
            </a:r>
            <a:r>
              <a:rPr lang="pt-BR" sz="800">
                <a:ea typeface="+mn-lt"/>
                <a:cs typeface="+mn-lt"/>
              </a:rPr>
              <a:t> Standard: </a:t>
            </a:r>
            <a:r>
              <a:rPr lang="pt-BR" sz="800" err="1">
                <a:ea typeface="+mn-lt"/>
                <a:cs typeface="+mn-lt"/>
              </a:rPr>
              <a:t>Topology</a:t>
            </a:r>
            <a:r>
              <a:rPr lang="pt-BR" sz="800">
                <a:ea typeface="+mn-lt"/>
                <a:cs typeface="+mn-lt"/>
              </a:rPr>
              <a:t>. Disponível em: </a:t>
            </a:r>
            <a:r>
              <a:rPr lang="pt-BR" sz="800">
                <a:ea typeface="+mn-lt"/>
                <a:cs typeface="+mn-lt"/>
                <a:hlinkClick r:id="rId10"/>
              </a:rPr>
              <a:t>https://uptimeinstitute.com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Gartner. Disponível em: </a:t>
            </a:r>
            <a:r>
              <a:rPr lang="pt-BR" sz="800">
                <a:ea typeface="+mn-lt"/>
                <a:cs typeface="+mn-lt"/>
                <a:hlinkClick r:id="rId11"/>
              </a:rPr>
              <a:t>https://www.gartner.com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GOUGH, Corey; STEINER, Ian; SAUNDERS, Winston. Energy Efficient Servers: Blueprints for Data Center Optimization. Disponível em: </a:t>
            </a:r>
            <a:r>
              <a:rPr lang="pt-BR" sz="800">
                <a:ea typeface="+mn-lt"/>
                <a:cs typeface="+mn-lt"/>
                <a:hlinkClick r:id="rId12"/>
              </a:rPr>
              <a:t>https://www.amazon.com</a:t>
            </a:r>
            <a:r>
              <a:rPr lang="pt-BR" sz="800">
                <a:ea typeface="+mn-lt"/>
                <a:cs typeface="+mn-lt"/>
              </a:rPr>
              <a:t>. Acesso em: 1 set. 2024.</a:t>
            </a:r>
            <a:endParaRPr lang="pt-BR" sz="800"/>
          </a:p>
          <a:p>
            <a:pPr>
              <a:lnSpc>
                <a:spcPct val="90000"/>
              </a:lnSpc>
            </a:pPr>
            <a:endParaRPr lang="pt-BR" sz="800"/>
          </a:p>
          <a:p>
            <a:pPr>
              <a:lnSpc>
                <a:spcPct val="90000"/>
              </a:lnSpc>
            </a:pPr>
            <a:r>
              <a:rPr lang="pt-BR" sz="800">
                <a:ea typeface="+mn-lt"/>
                <a:cs typeface="+mn-lt"/>
              </a:rPr>
              <a:t>GENG, </a:t>
            </a:r>
            <a:r>
              <a:rPr lang="pt-BR" sz="800" err="1">
                <a:ea typeface="+mn-lt"/>
                <a:cs typeface="+mn-lt"/>
              </a:rPr>
              <a:t>Hwaiyu</a:t>
            </a:r>
            <a:r>
              <a:rPr lang="pt-BR" sz="800">
                <a:ea typeface="+mn-lt"/>
                <a:cs typeface="+mn-lt"/>
              </a:rPr>
              <a:t>. The Data Center Handbook. Disponível em: https://www.amazon.com. Acesso em: 1 set. 2024.</a:t>
            </a:r>
          </a:p>
        </p:txBody>
      </p:sp>
    </p:spTree>
    <p:extLst>
      <p:ext uri="{BB962C8B-B14F-4D97-AF65-F5344CB8AC3E}">
        <p14:creationId xmlns:p14="http://schemas.microsoft.com/office/powerpoint/2010/main" val="129919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4800" dirty="0"/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126474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272</Words>
  <Application>Microsoft Office PowerPoint</Application>
  <PresentationFormat>Apresentação na tela (4:3)</PresentationFormat>
  <Paragraphs>42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PUC Minas – São Gabriel Sistemas de Informação TI: Aplicações para Sustentabilidade Apresentação S1 – 02/08/2024</vt:lpstr>
      <vt:lpstr>Roteiro</vt:lpstr>
      <vt:lpstr>Apresentação do PowerPoint</vt:lpstr>
      <vt:lpstr>Apresentação do PowerPoint</vt:lpstr>
      <vt:lpstr>Justweb</vt:lpstr>
      <vt:lpstr>Problema</vt:lpstr>
      <vt:lpstr>Objetivo Geral</vt:lpstr>
      <vt:lpstr>Objetivos Específicos</vt:lpstr>
      <vt:lpstr>Definições e Abreviaturas</vt:lpstr>
      <vt:lpstr>Cronograma</vt:lpstr>
      <vt:lpstr>Apresentação do PowerPoint</vt:lpstr>
      <vt:lpstr>Referências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PUC Minas – São Gabriel Sistemas de Informação TI: Aplicações para Sustentabilidade Apresentação S1 – 01/09/2022</dc:title>
  <dc:creator>Pedro</dc:creator>
  <cp:lastModifiedBy>Pedro Alves de Oliveira</cp:lastModifiedBy>
  <cp:revision>118</cp:revision>
  <dcterms:created xsi:type="dcterms:W3CDTF">2022-08-24T22:53:50Z</dcterms:created>
  <dcterms:modified xsi:type="dcterms:W3CDTF">2024-09-02T23:56:13Z</dcterms:modified>
</cp:coreProperties>
</file>